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proposal and an architecture decision record in one. The ask at the end is three decisions: endorse the pattern, charter a phased pilot, and designate an ICAM co-lead. The three colors carry through the deck: blue is enterprise ICAM, purple is the platform team, green is the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version of the whole proposal. Enterprise ICAM remains the sole source of identity and the authoritative decision on every request. A new mission layer refines access inside boundaries ICAM approves, and it can only narrow access, never widen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ADR framing so reviewers can find status, context, decision, and consequences on one page. Fill in the decision forum and date before circulating.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credit to ICAM: centralized authentication and externalized decisions are the foundation this builds on. The pressure is structural. Serving every mission's fine-grained needs from one central catalog does not scale, and the bespoke proxy is a second reason to act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the conversation. We are not asking ICAM to permit something new. Mission rules already live in application code and workarounds, invisible to ICAM. This proposal brings them under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A through C are the paths we are on or could drift into. A is the status quo, B is what happens in practice today when the catalog cannot keep up, and C is the parallel IAM system ICAM rightly fears. D keeps ICAM authoritative while giving missions a governed place to put their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NIST SP 800-207 (csrc.nist.gov/pubs/sp/800/207/final), NIST SP 800-162, NIST SP 800-53 Rev. 5, and the OpenID Foundation announcement approving the Authorization API 1.0 Final Specification. AuthZEN is the reason applications never depend on which engine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one and two are the ones ICAM cares about most: the floor is authoritative, and ICAM governs the pattern itself. Principle three is the organizing idea behind every ownership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passes through one enterprise identity check and two decision points, with the enterprise decision evaluated first. Each PDP draws on its own entitlement source: ICAM entitlements feed the enterprise PDP directly, while mission entitlements such as case and role assignments reach the Cerbos PDP through gateway attribute lookup. Colors show who owns each component. The step-up path is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seven steps left to right, top to bottom. Two points to stress: an enterprise deny at step 5 ends the request without ever calling Cerbos, and a step-up result sends the user back through the enterprise STS, never through the mission layer. The full sequence diagram is in the written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strengthens enterprise authentication rather than bypassing it. The STS token carries assurance level and methods, typically the acr and amr claims, and policy uses them to decide whether step-up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clearances, and attributes of record change slowly and stay with ICAM. Mission rules change frequently and are maintained by the teams closest to them, under ICAM-approved boundaries. Note the composition rule row: ICAM approves, the platform team only operates.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with ICAM. Their reach extends into mission decisions they do not have to author, and they see more than they do today. Lower request volume frees ICAM to focus on enterprise-level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Narrow-only composition means the mission layer cannot grant access the enterprise has not. New access is therefore always an ICAM decision, expressed as an access envelope: a stable, coarse entitlement approved through ICAM's existing process. Inside it, the mission manages fine-grained distinctions as needs change, and the volume of narrow, per-use-case requests reaching ICAM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of the overall catalog is shared, divided by attribute type, with enterprise ICAM owning every attribute of record. Rule four is the enforcement mechanism: if it is not registered, the policy does not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enterprise owns the vocabulary: which attributes exist, their allowed values, and what each value means. The data steward applies it to mission data and is accountable for labeling accurately. The three mechanisms on the bottom row keep the two vocabularies working together, and the registry enforces the boundary: enterprise attributes become fixed value lists in the Cerbos schemas, and CI rejects any policy or label that crosses a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Systems of record and freshness, from the written proposal: identity from the enterprise IdP, per session. Clearance from the personnel security system, authoritative at decision time. Position from the personnel system, on change. Authentication strength from the STS, per token. Envelopes from the entitlement management system, on approval or revocation. Markings and mission tags from the originating system or data catalog. Mission role and cell from the mission roster. Workflow state from the application data store, per request. Network zone and device posture from the gateway and endpoint management,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is colored by owner. Enterprise ICAM is accountable for everything with enterprise meaning: vocabulary, attributes of record, adoption, and envelope approval. The mission's data steward policy shop is accountable for requesting envelopes and for mission-derived attributes. The governance board is accountable for the registry because every party writes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pattern in the bottom half: the platform team is responsible for the composition rule, the kill switch, and log review, but enterprise ICAM is accountable for all three. The next slide makes those separations of duty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separations answer the question every security reviewer will ask: who checks the people writing the rules, and who checks the people running the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Governing rules for sharing: the registry becomes a contract with schema, meaning, owner, freshness, and versioning. Consumers inherit the restrict-only rule and may never substitute another mission's attribute for a clearance or envelope. Sharing is approved, not assumed: each consumer is registered against the specific attributes it reads, auditable by ICAM. Widely used attributes graduate to the enterprise catalog rather than quietly becoming enterprise-critical. The written proposal includes a RACI for these sharing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objections before the room does. The second row is the one that matters most to ICAM: deny-overrides is enforced structurally in the gateway, so a badly written mission policy cannot widen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ATO row leads into the control mapping on the next slide. The expertise row is answered by the separation of duties: no mission team writes and ships access policy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is preliminary. The ask of the ISSO and AO is to validate it during co-design, before shadow mode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 closed is the key operational commitment: if either decision point cannot answer, the request is denied.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mode is the trust-building phase: Tyk is in the request path enforcing only the enterprise decision, while Cerbos evaluates every request and its would-be decisions are logged. Nothing about mission enforcement happens until every divergence has been reviewed and accepted by both the mission and ICAM.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placeholders to agree with ICAM during co-design. The zero-tolerance line is not negotiable: a single mission permit over an enterprise deny fails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Tyk Gateway repository and license on GitHub; Tyk's post on AuthZEN for API gateways; Cerbos PDP v0.48 release notes for AuthZEN support. Because the contract is AuthZEN, either engine could be replaced later without touching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the reassurance; the right column is the payoff. Everything on the left is ICAM's today and stays ICAM's.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ADR should be honest about what the decision costs. None of these is free, and each has a named containment drawn from the risk register and the RACI.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blocks the decision. They are the first agenda for Phase 0 co-design with ICAM.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third decision matters as much as the first two: naming an ICAM co-lead with real approval authority is what makes this an ICAM-governed pattern rather than a mission initiative ICAM is asked to tolerate.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4202E"/>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2.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DB8D9"/>
                </a:solidFill>
                <a:latin typeface="IBM Plex Mono" pitchFamily="49" charset="0"/>
                <a:ea typeface="IBM Plex Mono" pitchFamily="49" charset="-122"/>
                <a:cs typeface="IBM Plex Mono" pitchFamily="49" charset="-120"/>
              </a:rPr>
              <a:t>ARCHITECTURE DECISION RECORD · STATUS: PROPOSED</a:t>
            </a:r>
            <a:endParaRPr lang="en-US" sz="1200" dirty="0"/>
          </a:p>
        </p:txBody>
      </p:sp>
      <p:sp>
        <p:nvSpPr>
          <p:cNvPr id="3" name="Text 1"/>
          <p:cNvSpPr/>
          <p:nvPr>
            <p:ph type="title"/>
          </p:nvPr>
        </p:nvSpPr>
        <p:spPr>
          <a:xfrm>
            <a:off x="812800" y="2556520"/>
            <a:ext cx="10883392" cy="838200"/>
          </a:xfrm>
          <a:prstGeom prst="rect">
            <a:avLst/>
          </a:prstGeom>
          <a:noFill/>
          <a:ln/>
        </p:spPr>
        <p:txBody>
          <a:bodyPr wrap="square" lIns="0" tIns="0" rIns="0" bIns="0" rtlCol="0" anchor="t">
            <a:normAutofit/>
          </a:bodyPr>
          <a:lstStyle/>
          <a:p>
            <a:pPr algn="l" indent="0" marL="0">
              <a:lnSpc>
                <a:spcPts val="6400"/>
              </a:lnSpc>
              <a:buNone/>
            </a:pPr>
            <a:r>
              <a:rPr lang="en-US" sz="6400" b="1" i="0" spc="-150" kern="0" dirty="0">
                <a:solidFill>
                  <a:srgbClr val="F2F0EA"/>
                </a:solidFill>
                <a:latin typeface="IBM Plex Sans" pitchFamily="34" charset="0"/>
                <a:ea typeface="IBM Plex Sans" pitchFamily="34" charset="-122"/>
                <a:cs typeface="IBM Plex Sans" pitchFamily="34" charset="-120"/>
              </a:rPr>
              <a:t>Layered Authorization</a:t>
            </a:r>
            <a:endParaRPr lang="en-US" sz="6400" dirty="0"/>
          </a:p>
        </p:txBody>
      </p:sp>
      <p:sp>
        <p:nvSpPr>
          <p:cNvPr id="4" name="Text 2"/>
          <p:cNvSpPr/>
          <p:nvPr/>
        </p:nvSpPr>
        <p:spPr>
          <a:xfrm>
            <a:off x="812800" y="357252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C9D3DE"/>
                </a:solidFill>
                <a:latin typeface="IBM Plex Sans" pitchFamily="34" charset="0"/>
                <a:ea typeface="IBM Plex Sans" pitchFamily="34" charset="-122"/>
                <a:cs typeface="IBM Plex Sans" pitchFamily="34" charset="-120"/>
              </a:rPr>
              <a:t>Enterprise floor, mission edge</a:t>
            </a:r>
            <a:endParaRPr lang="en-US" sz="2800" dirty="0"/>
          </a:p>
        </p:txBody>
      </p:sp>
      <p:sp>
        <p:nvSpPr>
          <p:cNvPr id="5" name="Shape 3"/>
          <p:cNvSpPr/>
          <p:nvPr/>
        </p:nvSpPr>
        <p:spPr>
          <a:xfrm>
            <a:off x="812800" y="4202410"/>
            <a:ext cx="1473200" cy="63500"/>
          </a:xfrm>
          <a:prstGeom prst="roundRect">
            <a:avLst>
              <a:gd name="adj" fmla="val 50000"/>
            </a:avLst>
          </a:prstGeom>
          <a:solidFill>
            <a:srgbClr val="5B9BE0"/>
          </a:solidFill>
          <a:ln/>
        </p:spPr>
      </p:sp>
      <p:sp>
        <p:nvSpPr>
          <p:cNvPr id="6" name="Shape 4"/>
          <p:cNvSpPr/>
          <p:nvPr/>
        </p:nvSpPr>
        <p:spPr>
          <a:xfrm>
            <a:off x="2362200" y="4202410"/>
            <a:ext cx="1473200" cy="63500"/>
          </a:xfrm>
          <a:prstGeom prst="roundRect">
            <a:avLst>
              <a:gd name="adj" fmla="val 50000"/>
            </a:avLst>
          </a:prstGeom>
          <a:solidFill>
            <a:srgbClr val="8F86E8"/>
          </a:solidFill>
          <a:ln/>
        </p:spPr>
      </p:sp>
      <p:sp>
        <p:nvSpPr>
          <p:cNvPr id="7" name="Shape 5"/>
          <p:cNvSpPr/>
          <p:nvPr/>
        </p:nvSpPr>
        <p:spPr>
          <a:xfrm>
            <a:off x="3911600" y="4202410"/>
            <a:ext cx="1473200" cy="63500"/>
          </a:xfrm>
          <a:prstGeom prst="roundRect">
            <a:avLst>
              <a:gd name="adj" fmla="val 50000"/>
            </a:avLst>
          </a:prstGeom>
          <a:solidFill>
            <a:srgbClr val="3FB58F"/>
          </a:solidFill>
          <a:ln/>
        </p:spPr>
      </p:sp>
      <p:sp>
        <p:nvSpPr>
          <p:cNvPr id="8" name="Text 6"/>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2"/>
                </a:solidFill>
                <a:latin typeface="IBM Plex Sans" pitchFamily="34" charset="0"/>
                <a:ea typeface="IBM Plex Sans" pitchFamily="34" charset="-122"/>
                <a:cs typeface="IBM Plex Sans" pitchFamily="34" charset="-120"/>
              </a:rPr>
              <a:t>Adam Z. Stavely · Technical Director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0371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THE BOTTOM LINE</a:t>
            </a:r>
            <a:endParaRPr lang="en-US" sz="1200" dirty="0"/>
          </a:p>
        </p:txBody>
      </p:sp>
      <p:sp>
        <p:nvSpPr>
          <p:cNvPr id="3" name="Shape 1"/>
          <p:cNvSpPr/>
          <p:nvPr/>
        </p:nvSpPr>
        <p:spPr>
          <a:xfrm>
            <a:off x="812800" y="2606080"/>
            <a:ext cx="76200" cy="426690"/>
          </a:xfrm>
          <a:prstGeom prst="roundRect">
            <a:avLst>
              <a:gd name="adj" fmla="val 50000"/>
            </a:avLst>
          </a:prstGeom>
          <a:solidFill>
            <a:srgbClr val="185FA5"/>
          </a:solidFill>
          <a:ln/>
        </p:spPr>
      </p:sp>
      <p:sp>
        <p:nvSpPr>
          <p:cNvPr id="4" name="Text 2"/>
          <p:cNvSpPr/>
          <p:nvPr/>
        </p:nvSpPr>
        <p:spPr>
          <a:xfrm>
            <a:off x="1143000" y="2606080"/>
            <a:ext cx="5571530"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4202E"/>
                </a:solidFill>
                <a:latin typeface="IBM Plex Sans" pitchFamily="34" charset="0"/>
                <a:ea typeface="IBM Plex Sans" pitchFamily="34" charset="-122"/>
                <a:cs typeface="IBM Plex Sans" pitchFamily="34" charset="-120"/>
              </a:rPr>
              <a:t>The STS proves who you are.</a:t>
            </a:r>
            <a:endParaRPr lang="en-US" sz="2800" dirty="0"/>
          </a:p>
        </p:txBody>
      </p:sp>
      <p:sp>
        <p:nvSpPr>
          <p:cNvPr id="5" name="Shape 3"/>
          <p:cNvSpPr/>
          <p:nvPr/>
        </p:nvSpPr>
        <p:spPr>
          <a:xfrm>
            <a:off x="812800" y="3286770"/>
            <a:ext cx="76200" cy="426690"/>
          </a:xfrm>
          <a:prstGeom prst="roundRect">
            <a:avLst>
              <a:gd name="adj" fmla="val 50000"/>
            </a:avLst>
          </a:prstGeom>
          <a:solidFill>
            <a:srgbClr val="185FA5"/>
          </a:solidFill>
          <a:ln/>
        </p:spPr>
      </p:sp>
      <p:sp>
        <p:nvSpPr>
          <p:cNvPr id="6" name="Text 4"/>
          <p:cNvSpPr/>
          <p:nvPr/>
        </p:nvSpPr>
        <p:spPr>
          <a:xfrm>
            <a:off x="1143000" y="3286770"/>
            <a:ext cx="9739491"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4202E"/>
                </a:solidFill>
                <a:latin typeface="IBM Plex Sans" pitchFamily="34" charset="0"/>
                <a:ea typeface="IBM Plex Sans" pitchFamily="34" charset="-122"/>
                <a:cs typeface="IBM Plex Sans" pitchFamily="34" charset="-120"/>
              </a:rPr>
              <a:t>Enterprise ICAM decides what you are cleared for.</a:t>
            </a:r>
            <a:endParaRPr lang="en-US" sz="2800" dirty="0"/>
          </a:p>
        </p:txBody>
      </p:sp>
      <p:sp>
        <p:nvSpPr>
          <p:cNvPr id="7" name="Shape 5"/>
          <p:cNvSpPr/>
          <p:nvPr/>
        </p:nvSpPr>
        <p:spPr>
          <a:xfrm>
            <a:off x="812800" y="3967460"/>
            <a:ext cx="76200" cy="853380"/>
          </a:xfrm>
          <a:prstGeom prst="roundRect">
            <a:avLst>
              <a:gd name="adj" fmla="val 50000"/>
            </a:avLst>
          </a:prstGeom>
          <a:solidFill>
            <a:srgbClr val="0F6E56"/>
          </a:solidFill>
          <a:ln/>
        </p:spPr>
      </p:sp>
      <p:sp>
        <p:nvSpPr>
          <p:cNvPr id="8" name="Text 6"/>
          <p:cNvSpPr/>
          <p:nvPr/>
        </p:nvSpPr>
        <p:spPr>
          <a:xfrm>
            <a:off x="1143000" y="3967460"/>
            <a:ext cx="10543286" cy="87878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4202E"/>
                </a:solidFill>
                <a:latin typeface="IBM Plex Sans" pitchFamily="34" charset="0"/>
                <a:ea typeface="IBM Plex Sans" pitchFamily="34" charset="-122"/>
                <a:cs typeface="IBM Plex Sans" pitchFamily="34" charset="-120"/>
              </a:rPr>
              <a:t>The mission decides what that means here, </a:t>
            </a:r>
            <a:r>
              <a:rPr lang="en-US" sz="2800" dirty="0">
                <a:solidFill>
                  <a:srgbClr val="0F6E56"/>
                </a:solidFill>
                <a:latin typeface="IBM Plex Sans" pitchFamily="34" charset="0"/>
                <a:ea typeface="IBM Plex Sans" pitchFamily="34" charset="-122"/>
                <a:cs typeface="IBM Plex Sans" pitchFamily="34" charset="-120"/>
              </a:rPr>
              <a:t>within limits ICAM sets.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CONTEXT</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The decision at a glance</a:t>
            </a:r>
            <a:endParaRPr lang="en-US" sz="3000" dirty="0"/>
          </a:p>
        </p:txBody>
      </p:sp>
      <p:sp>
        <p:nvSpPr>
          <p:cNvPr id="4" name="Shape 2"/>
          <p:cNvSpPr/>
          <p:nvPr/>
        </p:nvSpPr>
        <p:spPr>
          <a:xfrm>
            <a:off x="812800" y="1781770"/>
            <a:ext cx="10566400" cy="0"/>
          </a:xfrm>
          <a:prstGeom prst="line">
            <a:avLst/>
          </a:prstGeom>
          <a:noFill/>
          <a:ln w="12700">
            <a:solidFill>
              <a:srgbClr val="14202E"/>
            </a:solidFill>
            <a:prstDash val="solid"/>
          </a:ln>
        </p:spPr>
      </p:sp>
      <p:sp>
        <p:nvSpPr>
          <p:cNvPr id="5" name="Text 3"/>
          <p:cNvSpPr/>
          <p:nvPr/>
        </p:nvSpPr>
        <p:spPr>
          <a:xfrm>
            <a:off x="812800" y="1902420"/>
            <a:ext cx="1831340" cy="274290"/>
          </a:xfrm>
          <a:prstGeom prst="rect">
            <a:avLst/>
          </a:prstGeom>
          <a:noFill/>
          <a:ln/>
        </p:spPr>
        <p:txBody>
          <a:bodyPr wrap="square" lIns="0" tIns="0" rIns="0" bIns="0" rtlCol="0" anchor="t">
            <a:normAutofit/>
          </a:bodyPr>
          <a:lstStyle/>
          <a:p>
            <a:pPr algn="l" indent="0" marL="0">
              <a:lnSpc>
                <a:spcPts val="1920"/>
              </a:lnSpc>
              <a:buNone/>
            </a:pPr>
            <a:r>
              <a:rPr lang="en-US" sz="1200" b="1" spc="100" kern="0" dirty="0">
                <a:solidFill>
                  <a:srgbClr val="185FA5"/>
                </a:solidFill>
                <a:latin typeface="IBM Plex Mono" pitchFamily="49" charset="0"/>
                <a:ea typeface="IBM Plex Mono" pitchFamily="49" charset="-122"/>
                <a:cs typeface="IBM Plex Mono" pitchFamily="49" charset="-120"/>
              </a:rPr>
              <a:t>STATUS</a:t>
            </a:r>
            <a:endParaRPr lang="en-US" sz="1200" dirty="0"/>
          </a:p>
        </p:txBody>
      </p:sp>
      <p:sp>
        <p:nvSpPr>
          <p:cNvPr id="6" name="Text 4"/>
          <p:cNvSpPr/>
          <p:nvPr/>
        </p:nvSpPr>
        <p:spPr>
          <a:xfrm>
            <a:off x="2794000" y="1902420"/>
            <a:ext cx="884275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1F24"/>
                </a:solidFill>
                <a:latin typeface="IBM Plex Sans" pitchFamily="34" charset="0"/>
                <a:ea typeface="IBM Plex Sans" pitchFamily="34" charset="-122"/>
                <a:cs typeface="IBM Plex Sans" pitchFamily="34" charset="-120"/>
              </a:rPr>
              <a:t>Proposed</a:t>
            </a:r>
            <a:r>
              <a:rPr lang="en-US" sz="1400" dirty="0">
                <a:solidFill>
                  <a:srgbClr val="1B1F24"/>
                </a:solidFill>
                <a:latin typeface="IBM Plex Sans" pitchFamily="34" charset="0"/>
                <a:ea typeface="IBM Plex Sans" pitchFamily="34" charset="-122"/>
                <a:cs typeface="IBM Plex Sans" pitchFamily="34" charset="-120"/>
              </a:rPr>
              <a:t> · October 6, 2026</a:t>
            </a:r>
            <a:endParaRPr lang="en-US" sz="1400" dirty="0"/>
          </a:p>
        </p:txBody>
      </p:sp>
      <p:sp>
        <p:nvSpPr>
          <p:cNvPr id="7" name="Shape 5"/>
          <p:cNvSpPr/>
          <p:nvPr/>
        </p:nvSpPr>
        <p:spPr>
          <a:xfrm>
            <a:off x="812800" y="2268786"/>
            <a:ext cx="10566400" cy="0"/>
          </a:xfrm>
          <a:prstGeom prst="line">
            <a:avLst/>
          </a:prstGeom>
          <a:noFill/>
          <a:ln w="6350">
            <a:solidFill>
              <a:srgbClr val="DEDBD2"/>
            </a:solidFill>
            <a:prstDash val="solid"/>
          </a:ln>
        </p:spPr>
      </p:sp>
      <p:sp>
        <p:nvSpPr>
          <p:cNvPr id="8" name="Text 6"/>
          <p:cNvSpPr/>
          <p:nvPr/>
        </p:nvSpPr>
        <p:spPr>
          <a:xfrm>
            <a:off x="812800" y="2386261"/>
            <a:ext cx="1831340" cy="523180"/>
          </a:xfrm>
          <a:prstGeom prst="rect">
            <a:avLst/>
          </a:prstGeom>
          <a:noFill/>
          <a:ln/>
        </p:spPr>
        <p:txBody>
          <a:bodyPr wrap="square" lIns="0" tIns="0" rIns="0" bIns="0" rtlCol="0" anchor="t">
            <a:normAutofit/>
          </a:bodyPr>
          <a:lstStyle/>
          <a:p>
            <a:pPr algn="l" indent="0" marL="0">
              <a:lnSpc>
                <a:spcPts val="1920"/>
              </a:lnSpc>
              <a:buNone/>
            </a:pPr>
            <a:r>
              <a:rPr lang="en-US" sz="1200" b="1" spc="100" kern="0" dirty="0">
                <a:solidFill>
                  <a:srgbClr val="185FA5"/>
                </a:solidFill>
                <a:latin typeface="IBM Plex Mono" pitchFamily="49" charset="0"/>
                <a:ea typeface="IBM Plex Mono" pitchFamily="49" charset="-122"/>
                <a:cs typeface="IBM Plex Mono" pitchFamily="49" charset="-120"/>
              </a:rPr>
              <a:t>CONTEXT</a:t>
            </a:r>
            <a:endParaRPr lang="en-US" sz="1200" dirty="0"/>
          </a:p>
        </p:txBody>
      </p:sp>
      <p:sp>
        <p:nvSpPr>
          <p:cNvPr id="9" name="Text 7"/>
          <p:cNvSpPr/>
          <p:nvPr/>
        </p:nvSpPr>
        <p:spPr>
          <a:xfrm>
            <a:off x="2794000" y="2386261"/>
            <a:ext cx="88427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Mission-specific rules are multiplying faster than one enterprise entitlement catalog can absorb, and our developer platform relies on a bespoke auth proxy that mixes token handling with access logic.</a:t>
            </a:r>
            <a:endParaRPr lang="en-US" sz="1400" dirty="0"/>
          </a:p>
        </p:txBody>
      </p:sp>
      <p:sp>
        <p:nvSpPr>
          <p:cNvPr id="10" name="Shape 8"/>
          <p:cNvSpPr/>
          <p:nvPr/>
        </p:nvSpPr>
        <p:spPr>
          <a:xfrm>
            <a:off x="812800" y="3001516"/>
            <a:ext cx="10566400" cy="0"/>
          </a:xfrm>
          <a:prstGeom prst="line">
            <a:avLst/>
          </a:prstGeom>
          <a:noFill/>
          <a:ln w="6350">
            <a:solidFill>
              <a:srgbClr val="DEDBD2"/>
            </a:solidFill>
            <a:prstDash val="solid"/>
          </a:ln>
        </p:spPr>
      </p:sp>
      <p:sp>
        <p:nvSpPr>
          <p:cNvPr id="11" name="Text 9"/>
          <p:cNvSpPr/>
          <p:nvPr/>
        </p:nvSpPr>
        <p:spPr>
          <a:xfrm>
            <a:off x="812800" y="3118991"/>
            <a:ext cx="1831340" cy="523180"/>
          </a:xfrm>
          <a:prstGeom prst="rect">
            <a:avLst/>
          </a:prstGeom>
          <a:noFill/>
          <a:ln/>
        </p:spPr>
        <p:txBody>
          <a:bodyPr wrap="square" lIns="0" tIns="0" rIns="0" bIns="0" rtlCol="0" anchor="t">
            <a:normAutofit/>
          </a:bodyPr>
          <a:lstStyle/>
          <a:p>
            <a:pPr algn="l" indent="0" marL="0">
              <a:lnSpc>
                <a:spcPts val="1920"/>
              </a:lnSpc>
              <a:buNone/>
            </a:pPr>
            <a:r>
              <a:rPr lang="en-US" sz="1200" b="1" spc="100" kern="0" dirty="0">
                <a:solidFill>
                  <a:srgbClr val="185FA5"/>
                </a:solidFill>
                <a:latin typeface="IBM Plex Mono" pitchFamily="49" charset="0"/>
                <a:ea typeface="IBM Plex Mono" pitchFamily="49" charset="-122"/>
                <a:cs typeface="IBM Plex Mono" pitchFamily="49" charset="-120"/>
              </a:rPr>
              <a:t>DECISION</a:t>
            </a:r>
            <a:endParaRPr lang="en-US" sz="1200" dirty="0"/>
          </a:p>
        </p:txBody>
      </p:sp>
      <p:sp>
        <p:nvSpPr>
          <p:cNvPr id="12" name="Text 10"/>
          <p:cNvSpPr/>
          <p:nvPr/>
        </p:nvSpPr>
        <p:spPr>
          <a:xfrm>
            <a:off x="2794000" y="3118991"/>
            <a:ext cx="88427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Adopt layered authorization: the enterprise PDP is the authoritative floor, a Cerbos mission PDP may only narrow access, and Tyk Gateway enforces both through AuthZEN with deny-overrides.</a:t>
            </a:r>
            <a:endParaRPr lang="en-US" sz="1400" dirty="0"/>
          </a:p>
        </p:txBody>
      </p:sp>
      <p:sp>
        <p:nvSpPr>
          <p:cNvPr id="13" name="Shape 11"/>
          <p:cNvSpPr/>
          <p:nvPr/>
        </p:nvSpPr>
        <p:spPr>
          <a:xfrm>
            <a:off x="812800" y="3734246"/>
            <a:ext cx="10566400" cy="0"/>
          </a:xfrm>
          <a:prstGeom prst="line">
            <a:avLst/>
          </a:prstGeom>
          <a:noFill/>
          <a:ln w="6350">
            <a:solidFill>
              <a:srgbClr val="DEDBD2"/>
            </a:solidFill>
            <a:prstDash val="solid"/>
          </a:ln>
        </p:spPr>
      </p:sp>
      <p:sp>
        <p:nvSpPr>
          <p:cNvPr id="14" name="Text 12"/>
          <p:cNvSpPr/>
          <p:nvPr/>
        </p:nvSpPr>
        <p:spPr>
          <a:xfrm>
            <a:off x="812800" y="3851721"/>
            <a:ext cx="1831340" cy="523180"/>
          </a:xfrm>
          <a:prstGeom prst="rect">
            <a:avLst/>
          </a:prstGeom>
          <a:noFill/>
          <a:ln/>
        </p:spPr>
        <p:txBody>
          <a:bodyPr wrap="square" lIns="0" tIns="0" rIns="0" bIns="0" rtlCol="0" anchor="t">
            <a:normAutofit/>
          </a:bodyPr>
          <a:lstStyle/>
          <a:p>
            <a:pPr algn="l" indent="0" marL="0">
              <a:lnSpc>
                <a:spcPts val="1920"/>
              </a:lnSpc>
              <a:buNone/>
            </a:pPr>
            <a:r>
              <a:rPr lang="en-US" sz="1200" b="1" spc="100" kern="0" dirty="0">
                <a:solidFill>
                  <a:srgbClr val="185FA5"/>
                </a:solidFill>
                <a:latin typeface="IBM Plex Mono" pitchFamily="49" charset="0"/>
                <a:ea typeface="IBM Plex Mono" pitchFamily="49" charset="-122"/>
                <a:cs typeface="IBM Plex Mono" pitchFamily="49" charset="-120"/>
              </a:rPr>
              <a:t>CONSEQUENCES</a:t>
            </a:r>
            <a:endParaRPr lang="en-US" sz="1200" dirty="0"/>
          </a:p>
        </p:txBody>
      </p:sp>
      <p:sp>
        <p:nvSpPr>
          <p:cNvPr id="15" name="Text 13"/>
          <p:cNvSpPr/>
          <p:nvPr/>
        </p:nvSpPr>
        <p:spPr>
          <a:xfrm>
            <a:off x="2794000" y="3851721"/>
            <a:ext cx="88427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ICAM authority, approval rights, and visibility extend into mission decisions. Missions ship rules at their own pace. We take on a second decision hop and two components to operate.</a:t>
            </a:r>
            <a:endParaRPr lang="en-US" sz="1400" dirty="0"/>
          </a:p>
        </p:txBody>
      </p:sp>
      <p:sp>
        <p:nvSpPr>
          <p:cNvPr id="16" name="Shape 14"/>
          <p:cNvSpPr/>
          <p:nvPr/>
        </p:nvSpPr>
        <p:spPr>
          <a:xfrm>
            <a:off x="812800" y="4466977"/>
            <a:ext cx="10566400" cy="0"/>
          </a:xfrm>
          <a:prstGeom prst="line">
            <a:avLst/>
          </a:prstGeom>
          <a:noFill/>
          <a:ln w="6350">
            <a:solidFill>
              <a:srgbClr val="DEDBD2"/>
            </a:solidFill>
            <a:prstDash val="solid"/>
          </a:ln>
        </p:spPr>
      </p:sp>
      <p:sp>
        <p:nvSpPr>
          <p:cNvPr id="17" name="Shape 15"/>
          <p:cNvSpPr/>
          <p:nvPr/>
        </p:nvSpPr>
        <p:spPr>
          <a:xfrm>
            <a:off x="812800" y="4950817"/>
            <a:ext cx="10566400" cy="0"/>
          </a:xfrm>
          <a:prstGeom prst="line">
            <a:avLst/>
          </a:prstGeom>
          <a:noFill/>
          <a:ln w="6350">
            <a:solidFill>
              <a:srgbClr val="DEDBD2"/>
            </a:solidFill>
            <a:prstDash val="solid"/>
          </a:ln>
        </p:spPr>
      </p:sp>
      <p:sp>
        <p:nvSpPr>
          <p:cNvPr id="18" name="Text 16"/>
          <p:cNvSpPr/>
          <p:nvPr/>
        </p:nvSpPr>
        <p:spPr>
          <a:xfrm>
            <a:off x="812800" y="4584452"/>
            <a:ext cx="1831340" cy="274290"/>
          </a:xfrm>
          <a:prstGeom prst="rect">
            <a:avLst/>
          </a:prstGeom>
          <a:noFill/>
          <a:ln/>
        </p:spPr>
        <p:txBody>
          <a:bodyPr wrap="square" lIns="0" tIns="0" rIns="0" bIns="0" rtlCol="0" anchor="t">
            <a:normAutofit/>
          </a:bodyPr>
          <a:lstStyle/>
          <a:p>
            <a:pPr algn="l" indent="0" marL="0">
              <a:lnSpc>
                <a:spcPts val="1920"/>
              </a:lnSpc>
              <a:buNone/>
            </a:pPr>
            <a:r>
              <a:rPr lang="en-US" sz="1200" b="1" spc="100" kern="0" dirty="0">
                <a:solidFill>
                  <a:srgbClr val="185FA5"/>
                </a:solidFill>
                <a:latin typeface="IBM Plex Mono" pitchFamily="49" charset="0"/>
                <a:ea typeface="IBM Plex Mono" pitchFamily="49" charset="-122"/>
                <a:cs typeface="IBM Plex Mono" pitchFamily="49" charset="-120"/>
              </a:rPr>
              <a:t>DECIDERS</a:t>
            </a:r>
            <a:endParaRPr lang="en-US" sz="1200" dirty="0"/>
          </a:p>
        </p:txBody>
      </p:sp>
      <p:sp>
        <p:nvSpPr>
          <p:cNvPr id="19" name="Text 17"/>
          <p:cNvSpPr/>
          <p:nvPr/>
        </p:nvSpPr>
        <p:spPr>
          <a:xfrm>
            <a:off x="2794000" y="4584452"/>
            <a:ext cx="88427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Enterprise ICAM leadership, with the engineering governance board · [forum and date]</a:t>
            </a:r>
            <a:endParaRPr lang="en-US" sz="14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03 / 32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CONTEXT</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Why now: demand has outgrown the catalog</a:t>
            </a:r>
            <a:endParaRPr lang="en-US" sz="3000" dirty="0"/>
          </a:p>
        </p:txBody>
      </p:sp>
      <p:sp>
        <p:nvSpPr>
          <p:cNvPr id="4" name="Shape 2"/>
          <p:cNvSpPr/>
          <p:nvPr/>
        </p:nvSpPr>
        <p:spPr>
          <a:xfrm>
            <a:off x="815975" y="1778595"/>
            <a:ext cx="3380284" cy="2228751"/>
          </a:xfrm>
          <a:prstGeom prst="roundRect">
            <a:avLst>
              <a:gd name="adj" fmla="val 3276"/>
            </a:avLst>
          </a:prstGeom>
          <a:solidFill>
            <a:srgbClr val="FDFCFA"/>
          </a:solidFill>
          <a:ln w="6350">
            <a:solidFill>
              <a:srgbClr val="DEDBD2"/>
            </a:solidFill>
            <a:prstDash val="solid"/>
          </a:ln>
        </p:spPr>
      </p:sp>
      <p:sp>
        <p:nvSpPr>
          <p:cNvPr id="5" name="Text 3"/>
          <p:cNvSpPr/>
          <p:nvPr/>
        </p:nvSpPr>
        <p:spPr>
          <a:xfrm>
            <a:off x="1022350" y="1984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1022350" y="2299891"/>
            <a:ext cx="30565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The foundation is in place</a:t>
            </a:r>
            <a:endParaRPr lang="en-US" sz="1600" dirty="0"/>
          </a:p>
        </p:txBody>
      </p:sp>
      <p:sp>
        <p:nvSpPr>
          <p:cNvPr id="7" name="Text 5"/>
          <p:cNvSpPr/>
          <p:nvPr/>
        </p:nvSpPr>
        <p:spPr>
          <a:xfrm>
            <a:off x="1022350" y="2645321"/>
            <a:ext cx="305656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44B"/>
                </a:solidFill>
                <a:latin typeface="IBM Plex Sans" pitchFamily="34" charset="0"/>
                <a:ea typeface="IBM Plex Sans" pitchFamily="34" charset="-122"/>
                <a:cs typeface="IBM Plex Sans" pitchFamily="34" charset="-120"/>
              </a:rPr>
              <a:t>Authentication is centralized, and authorization decisions are already externalized from applications. ICAM has done the hard work.</a:t>
            </a:r>
            <a:endParaRPr lang="en-US" sz="1300" dirty="0"/>
          </a:p>
        </p:txBody>
      </p:sp>
      <p:sp>
        <p:nvSpPr>
          <p:cNvPr id="8" name="Shape 6"/>
          <p:cNvSpPr/>
          <p:nvPr/>
        </p:nvSpPr>
        <p:spPr>
          <a:xfrm>
            <a:off x="4405809" y="1778595"/>
            <a:ext cx="3380333" cy="2228751"/>
          </a:xfrm>
          <a:prstGeom prst="roundRect">
            <a:avLst>
              <a:gd name="adj" fmla="val 3276"/>
            </a:avLst>
          </a:prstGeom>
          <a:solidFill>
            <a:srgbClr val="FDFCFA"/>
          </a:solidFill>
          <a:ln w="6350">
            <a:solidFill>
              <a:srgbClr val="DEDBD2"/>
            </a:solidFill>
            <a:prstDash val="solid"/>
          </a:ln>
        </p:spPr>
      </p:sp>
      <p:sp>
        <p:nvSpPr>
          <p:cNvPr id="9" name="Text 7"/>
          <p:cNvSpPr/>
          <p:nvPr/>
        </p:nvSpPr>
        <p:spPr>
          <a:xfrm>
            <a:off x="4612184" y="1984970"/>
            <a:ext cx="30566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4612184" y="2299891"/>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Demand outgrew the catalog</a:t>
            </a:r>
            <a:endParaRPr lang="en-US" sz="1600" dirty="0"/>
          </a:p>
        </p:txBody>
      </p:sp>
      <p:sp>
        <p:nvSpPr>
          <p:cNvPr id="11" name="Text 9"/>
          <p:cNvSpPr/>
          <p:nvPr/>
        </p:nvSpPr>
        <p:spPr>
          <a:xfrm>
            <a:off x="4612184" y="2645321"/>
            <a:ext cx="3056611"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44B"/>
                </a:solidFill>
                <a:latin typeface="IBM Plex Sans" pitchFamily="34" charset="0"/>
                <a:ea typeface="IBM Plex Sans" pitchFamily="34" charset="-122"/>
                <a:cs typeface="IBM Plex Sans" pitchFamily="34" charset="-120"/>
              </a:rPr>
              <a:t>Position-based access, workflow state, and release conditions multiply faster than one central catalog can absorb. A structural limit, not a team shortcoming.</a:t>
            </a:r>
            <a:endParaRPr lang="en-US" sz="1300" dirty="0"/>
          </a:p>
        </p:txBody>
      </p:sp>
      <p:sp>
        <p:nvSpPr>
          <p:cNvPr id="12" name="Shape 10"/>
          <p:cNvSpPr/>
          <p:nvPr/>
        </p:nvSpPr>
        <p:spPr>
          <a:xfrm>
            <a:off x="7995692" y="1778595"/>
            <a:ext cx="3380333" cy="2228751"/>
          </a:xfrm>
          <a:prstGeom prst="roundRect">
            <a:avLst>
              <a:gd name="adj" fmla="val 3276"/>
            </a:avLst>
          </a:prstGeom>
          <a:solidFill>
            <a:srgbClr val="FDFCFA"/>
          </a:solidFill>
          <a:ln w="6350">
            <a:solidFill>
              <a:srgbClr val="DEDBD2"/>
            </a:solidFill>
            <a:prstDash val="solid"/>
          </a:ln>
        </p:spPr>
      </p:sp>
      <p:sp>
        <p:nvSpPr>
          <p:cNvPr id="13" name="Text 11"/>
          <p:cNvSpPr/>
          <p:nvPr/>
        </p:nvSpPr>
        <p:spPr>
          <a:xfrm>
            <a:off x="8202067" y="1984970"/>
            <a:ext cx="30566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03</a:t>
            </a:r>
            <a:endParaRPr lang="en-US" sz="1200" dirty="0"/>
          </a:p>
        </p:txBody>
      </p:sp>
      <p:sp>
        <p:nvSpPr>
          <p:cNvPr id="14" name="Text 12"/>
          <p:cNvSpPr/>
          <p:nvPr/>
        </p:nvSpPr>
        <p:spPr>
          <a:xfrm>
            <a:off x="8202067" y="2299891"/>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The auth proxy is bespoke</a:t>
            </a:r>
            <a:endParaRPr lang="en-US" sz="1600" dirty="0"/>
          </a:p>
        </p:txBody>
      </p:sp>
      <p:sp>
        <p:nvSpPr>
          <p:cNvPr id="15" name="Text 13"/>
          <p:cNvSpPr/>
          <p:nvPr/>
        </p:nvSpPr>
        <p:spPr>
          <a:xfrm>
            <a:off x="8202067" y="2645321"/>
            <a:ext cx="305661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44B"/>
                </a:solidFill>
                <a:latin typeface="IBM Plex Sans" pitchFamily="34" charset="0"/>
                <a:ea typeface="IBM Plex Sans" pitchFamily="34" charset="-122"/>
                <a:cs typeface="IBM Plex Sans" pitchFamily="34" charset="-120"/>
              </a:rPr>
              <a:t>Our developer platform's proxy combines token handling and access logic in one unstandardized component.</a:t>
            </a:r>
            <a:endParaRPr lang="en-US" sz="1300" dirty="0"/>
          </a:p>
        </p:txBody>
      </p:sp>
      <p:sp>
        <p:nvSpPr>
          <p:cNvPr id="16" name="Text 14"/>
          <p:cNvSpPr/>
          <p:nvPr/>
        </p:nvSpPr>
        <p:spPr>
          <a:xfrm>
            <a:off x="812800" y="426452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02E"/>
                </a:solidFill>
                <a:latin typeface="IBM Plex Sans" pitchFamily="34" charset="0"/>
                <a:ea typeface="IBM Plex Sans" pitchFamily="34" charset="-122"/>
                <a:cs typeface="IBM Plex Sans" pitchFamily="34" charset="-120"/>
              </a:rPr>
              <a:t>Mission-level rules already exist, scattered across applications and workarounds.</a:t>
            </a:r>
            <a:endParaRPr lang="en-US" sz="1800" dirty="0"/>
          </a:p>
        </p:txBody>
      </p:sp>
      <p:sp>
        <p:nvSpPr>
          <p:cNvPr id="17"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04 / 32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5FA5"/>
        </a:solidFill>
      </p:bgPr>
    </p:bg>
    <p:spTree>
      <p:nvGrpSpPr>
        <p:cNvPr id="1" name=""/>
        <p:cNvGrpSpPr/>
        <p:nvPr/>
      </p:nvGrpSpPr>
      <p:grpSpPr>
        <a:xfrm>
          <a:off x="0" y="0"/>
          <a:ext cx="0" cy="0"/>
          <a:chOff x="0" y="0"/>
          <a:chExt cx="0" cy="0"/>
        </a:xfrm>
      </p:grpSpPr>
      <p:sp>
        <p:nvSpPr>
          <p:cNvPr id="2" name="Text 0"/>
          <p:cNvSpPr/>
          <p:nvPr/>
        </p:nvSpPr>
        <p:spPr>
          <a:xfrm>
            <a:off x="812800" y="23469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6E6F7"/>
                </a:solidFill>
                <a:latin typeface="IBM Plex Mono" pitchFamily="49" charset="0"/>
                <a:ea typeface="IBM Plex Mono" pitchFamily="49" charset="-122"/>
                <a:cs typeface="IBM Plex Mono" pitchFamily="49" charset="-120"/>
              </a:rPr>
              <a:t>THE REAL QUESTION</a:t>
            </a:r>
            <a:endParaRPr lang="en-US" sz="1200" dirty="0"/>
          </a:p>
        </p:txBody>
      </p:sp>
      <p:sp>
        <p:nvSpPr>
          <p:cNvPr id="3" name="Text 1"/>
          <p:cNvSpPr/>
          <p:nvPr/>
        </p:nvSpPr>
        <p:spPr>
          <a:xfrm>
            <a:off x="812800" y="2865090"/>
            <a:ext cx="10883392" cy="1671290"/>
          </a:xfrm>
          <a:prstGeom prst="rect">
            <a:avLst/>
          </a:prstGeom>
          <a:noFill/>
          <a:ln/>
        </p:spPr>
        <p:txBody>
          <a:bodyPr wrap="square" lIns="0" tIns="0" rIns="0" bIns="0" rtlCol="0" anchor="t">
            <a:normAutofit/>
          </a:bodyPr>
          <a:lstStyle/>
          <a:p>
            <a:pPr algn="l" indent="0" marL="0">
              <a:lnSpc>
                <a:spcPts val="4320"/>
              </a:lnSpc>
              <a:buNone/>
            </a:pPr>
            <a:r>
              <a:rPr lang="en-US" sz="3600" dirty="0">
                <a:solidFill>
                  <a:srgbClr val="F7F6F2"/>
                </a:solidFill>
                <a:latin typeface="IBM Plex Sans" pitchFamily="34" charset="0"/>
                <a:ea typeface="IBM Plex Sans" pitchFamily="34" charset="-122"/>
                <a:cs typeface="IBM Plex Sans" pitchFamily="34" charset="-120"/>
              </a:rPr>
              <a:t>Mission-level rules will exist either way. The question is whether they exist </a:t>
            </a:r>
            <a:r>
              <a:rPr lang="en-US" sz="3600" b="1" dirty="0">
                <a:solidFill>
                  <a:srgbClr val="F7F6F2"/>
                </a:solidFill>
                <a:latin typeface="IBM Plex Sans" pitchFamily="34" charset="0"/>
                <a:ea typeface="IBM Plex Sans" pitchFamily="34" charset="-122"/>
                <a:cs typeface="IBM Plex Sans" pitchFamily="34" charset="-120"/>
              </a:rPr>
              <a:t>under enterprise ICAM governance</a:t>
            </a:r>
            <a:r>
              <a:rPr lang="en-US" sz="3600" dirty="0">
                <a:solidFill>
                  <a:srgbClr val="F7F6F2"/>
                </a:solidFill>
                <a:latin typeface="IBM Plex Sans" pitchFamily="34" charset="0"/>
                <a:ea typeface="IBM Plex Sans" pitchFamily="34" charset="-122"/>
                <a:cs typeface="IBM Plex Sans" pitchFamily="34" charset="-120"/>
              </a:rPr>
              <a:t> or outside it.</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DECISION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Options considered</a:t>
            </a:r>
            <a:endParaRPr lang="en-US" sz="3000" dirty="0"/>
          </a:p>
        </p:txBody>
      </p:sp>
      <p:sp>
        <p:nvSpPr>
          <p:cNvPr id="4" name="Shape 2"/>
          <p:cNvSpPr/>
          <p:nvPr/>
        </p:nvSpPr>
        <p:spPr>
          <a:xfrm>
            <a:off x="815975" y="1778595"/>
            <a:ext cx="2517775" cy="2877542"/>
          </a:xfrm>
          <a:prstGeom prst="roundRect">
            <a:avLst>
              <a:gd name="adj" fmla="val 2900"/>
            </a:avLst>
          </a:prstGeom>
          <a:solidFill>
            <a:srgbClr val="FDFCFA"/>
          </a:solidFill>
          <a:ln w="6350">
            <a:solidFill>
              <a:srgbClr val="DEDBD2"/>
            </a:solidFill>
            <a:prstDash val="solid"/>
          </a:ln>
        </p:spPr>
      </p:sp>
      <p:sp>
        <p:nvSpPr>
          <p:cNvPr id="5" name="Text 3"/>
          <p:cNvSpPr/>
          <p:nvPr/>
        </p:nvSpPr>
        <p:spPr>
          <a:xfrm>
            <a:off x="1022350" y="1984970"/>
            <a:ext cx="216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OPTION A</a:t>
            </a:r>
            <a:endParaRPr lang="en-US" sz="1200" dirty="0"/>
          </a:p>
        </p:txBody>
      </p:sp>
      <p:sp>
        <p:nvSpPr>
          <p:cNvPr id="6" name="Text 4"/>
          <p:cNvSpPr/>
          <p:nvPr/>
        </p:nvSpPr>
        <p:spPr>
          <a:xfrm>
            <a:off x="1022350" y="2299891"/>
            <a:ext cx="216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Status quo</a:t>
            </a:r>
            <a:endParaRPr lang="en-US" sz="1500" dirty="0"/>
          </a:p>
        </p:txBody>
      </p:sp>
      <p:sp>
        <p:nvSpPr>
          <p:cNvPr id="7" name="Text 5"/>
          <p:cNvSpPr/>
          <p:nvPr/>
        </p:nvSpPr>
        <p:spPr>
          <a:xfrm>
            <a:off x="1022350" y="2630091"/>
            <a:ext cx="21681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Route every mission rule through the enterprise catalog. Keep the bespoke proxy.</a:t>
            </a:r>
            <a:endParaRPr lang="en-US" sz="1200" dirty="0"/>
          </a:p>
        </p:txBody>
      </p:sp>
      <p:sp>
        <p:nvSpPr>
          <p:cNvPr id="8" name="Shape 6"/>
          <p:cNvSpPr/>
          <p:nvPr/>
        </p:nvSpPr>
        <p:spPr>
          <a:xfrm>
            <a:off x="1022350" y="3705027"/>
            <a:ext cx="2105025" cy="0"/>
          </a:xfrm>
          <a:prstGeom prst="line">
            <a:avLst/>
          </a:prstGeom>
          <a:noFill/>
          <a:ln w="6350">
            <a:solidFill>
              <a:srgbClr val="DEDBD2"/>
            </a:solidFill>
            <a:prstDash val="solid"/>
          </a:ln>
        </p:spPr>
      </p:sp>
      <p:sp>
        <p:nvSpPr>
          <p:cNvPr id="9" name="Text 7"/>
          <p:cNvSpPr/>
          <p:nvPr/>
        </p:nvSpPr>
        <p:spPr>
          <a:xfrm>
            <a:off x="1022350" y="3809802"/>
            <a:ext cx="21681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The catalog cannot absorb mission volume, so rules keep leaking into apps.</a:t>
            </a:r>
            <a:endParaRPr lang="en-US" sz="1200" dirty="0"/>
          </a:p>
        </p:txBody>
      </p:sp>
      <p:sp>
        <p:nvSpPr>
          <p:cNvPr id="10" name="Shape 8"/>
          <p:cNvSpPr/>
          <p:nvPr/>
        </p:nvSpPr>
        <p:spPr>
          <a:xfrm>
            <a:off x="3492500" y="1778595"/>
            <a:ext cx="2517775" cy="2877542"/>
          </a:xfrm>
          <a:prstGeom prst="roundRect">
            <a:avLst>
              <a:gd name="adj" fmla="val 2900"/>
            </a:avLst>
          </a:prstGeom>
          <a:solidFill>
            <a:srgbClr val="FDFCFA"/>
          </a:solidFill>
          <a:ln w="6350">
            <a:solidFill>
              <a:srgbClr val="DEDBD2"/>
            </a:solidFill>
            <a:prstDash val="solid"/>
          </a:ln>
        </p:spPr>
      </p:sp>
      <p:sp>
        <p:nvSpPr>
          <p:cNvPr id="11" name="Text 9"/>
          <p:cNvSpPr/>
          <p:nvPr/>
        </p:nvSpPr>
        <p:spPr>
          <a:xfrm>
            <a:off x="3698875" y="1984970"/>
            <a:ext cx="216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OPTION B</a:t>
            </a:r>
            <a:endParaRPr lang="en-US" sz="1200" dirty="0"/>
          </a:p>
        </p:txBody>
      </p:sp>
      <p:sp>
        <p:nvSpPr>
          <p:cNvPr id="12" name="Text 10"/>
          <p:cNvSpPr/>
          <p:nvPr/>
        </p:nvSpPr>
        <p:spPr>
          <a:xfrm>
            <a:off x="3698875" y="2299891"/>
            <a:ext cx="216817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Rules in application code</a:t>
            </a:r>
            <a:endParaRPr lang="en-US" sz="1500" dirty="0"/>
          </a:p>
        </p:txBody>
      </p:sp>
      <p:sp>
        <p:nvSpPr>
          <p:cNvPr id="13" name="Text 11"/>
          <p:cNvSpPr/>
          <p:nvPr/>
        </p:nvSpPr>
        <p:spPr>
          <a:xfrm>
            <a:off x="3698875" y="2858691"/>
            <a:ext cx="21681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Each application embeds its own mission authorization logic.</a:t>
            </a:r>
            <a:endParaRPr lang="en-US" sz="1200" dirty="0"/>
          </a:p>
        </p:txBody>
      </p:sp>
      <p:sp>
        <p:nvSpPr>
          <p:cNvPr id="14" name="Shape 12"/>
          <p:cNvSpPr/>
          <p:nvPr/>
        </p:nvSpPr>
        <p:spPr>
          <a:xfrm>
            <a:off x="3698875" y="3705027"/>
            <a:ext cx="2105025" cy="0"/>
          </a:xfrm>
          <a:prstGeom prst="line">
            <a:avLst/>
          </a:prstGeom>
          <a:noFill/>
          <a:ln w="6350">
            <a:solidFill>
              <a:srgbClr val="DEDBD2"/>
            </a:solidFill>
            <a:prstDash val="solid"/>
          </a:ln>
        </p:spPr>
      </p:sp>
      <p:sp>
        <p:nvSpPr>
          <p:cNvPr id="15" name="Text 13"/>
          <p:cNvSpPr/>
          <p:nvPr/>
        </p:nvSpPr>
        <p:spPr>
          <a:xfrm>
            <a:off x="3698875" y="3809802"/>
            <a:ext cx="21681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Today's workaround: invisible to ICAM, inconsistent, hard to audit.</a:t>
            </a:r>
            <a:endParaRPr lang="en-US" sz="1200" dirty="0"/>
          </a:p>
        </p:txBody>
      </p:sp>
      <p:sp>
        <p:nvSpPr>
          <p:cNvPr id="16" name="Shape 14"/>
          <p:cNvSpPr/>
          <p:nvPr/>
        </p:nvSpPr>
        <p:spPr>
          <a:xfrm>
            <a:off x="6169025" y="1778595"/>
            <a:ext cx="2517775" cy="2877542"/>
          </a:xfrm>
          <a:prstGeom prst="roundRect">
            <a:avLst>
              <a:gd name="adj" fmla="val 2900"/>
            </a:avLst>
          </a:prstGeom>
          <a:solidFill>
            <a:srgbClr val="FDFCFA"/>
          </a:solidFill>
          <a:ln w="6350">
            <a:solidFill>
              <a:srgbClr val="DEDBD2"/>
            </a:solidFill>
            <a:prstDash val="solid"/>
          </a:ln>
        </p:spPr>
      </p:sp>
      <p:sp>
        <p:nvSpPr>
          <p:cNvPr id="17" name="Text 15"/>
          <p:cNvSpPr/>
          <p:nvPr/>
        </p:nvSpPr>
        <p:spPr>
          <a:xfrm>
            <a:off x="6375400" y="1984970"/>
            <a:ext cx="216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OPTION C</a:t>
            </a:r>
            <a:endParaRPr lang="en-US" sz="1200" dirty="0"/>
          </a:p>
        </p:txBody>
      </p:sp>
      <p:sp>
        <p:nvSpPr>
          <p:cNvPr id="18" name="Text 16"/>
          <p:cNvSpPr/>
          <p:nvPr/>
        </p:nvSpPr>
        <p:spPr>
          <a:xfrm>
            <a:off x="6375400" y="2299891"/>
            <a:ext cx="216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Separate mission IAM</a:t>
            </a:r>
            <a:endParaRPr lang="en-US" sz="1500" dirty="0"/>
          </a:p>
        </p:txBody>
      </p:sp>
      <p:sp>
        <p:nvSpPr>
          <p:cNvPr id="19" name="Text 17"/>
          <p:cNvSpPr/>
          <p:nvPr/>
        </p:nvSpPr>
        <p:spPr>
          <a:xfrm>
            <a:off x="6375400" y="2630091"/>
            <a:ext cx="21681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Missions run their own identity and access stack.</a:t>
            </a:r>
            <a:endParaRPr lang="en-US" sz="1200" dirty="0"/>
          </a:p>
        </p:txBody>
      </p:sp>
      <p:sp>
        <p:nvSpPr>
          <p:cNvPr id="20" name="Shape 18"/>
          <p:cNvSpPr/>
          <p:nvPr/>
        </p:nvSpPr>
        <p:spPr>
          <a:xfrm>
            <a:off x="6375400" y="3705027"/>
            <a:ext cx="2105025" cy="0"/>
          </a:xfrm>
          <a:prstGeom prst="line">
            <a:avLst/>
          </a:prstGeom>
          <a:noFill/>
          <a:ln w="6350">
            <a:solidFill>
              <a:srgbClr val="DEDBD2"/>
            </a:solidFill>
            <a:prstDash val="solid"/>
          </a:ln>
        </p:spPr>
      </p:sp>
      <p:sp>
        <p:nvSpPr>
          <p:cNvPr id="21" name="Text 19"/>
          <p:cNvSpPr/>
          <p:nvPr/>
        </p:nvSpPr>
        <p:spPr>
          <a:xfrm>
            <a:off x="6375400" y="3809802"/>
            <a:ext cx="21681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E"/>
                </a:solidFill>
                <a:latin typeface="IBM Plex Sans" pitchFamily="34" charset="0"/>
                <a:ea typeface="IBM Plex Sans" pitchFamily="34" charset="-122"/>
                <a:cs typeface="IBM Plex Sans" pitchFamily="34" charset="-120"/>
              </a:rPr>
              <a:t>A parallel IAM system that breaks the single identity source.</a:t>
            </a:r>
            <a:endParaRPr lang="en-US" sz="1200" dirty="0"/>
          </a:p>
        </p:txBody>
      </p:sp>
      <p:sp>
        <p:nvSpPr>
          <p:cNvPr id="22" name="Shape 20"/>
          <p:cNvSpPr/>
          <p:nvPr/>
        </p:nvSpPr>
        <p:spPr>
          <a:xfrm>
            <a:off x="8848725" y="1781770"/>
            <a:ext cx="2524125" cy="2871192"/>
          </a:xfrm>
          <a:prstGeom prst="roundRect">
            <a:avLst>
              <a:gd name="adj" fmla="val 2767"/>
            </a:avLst>
          </a:prstGeom>
          <a:solidFill>
            <a:srgbClr val="E6F1FB"/>
          </a:solidFill>
          <a:ln w="12700">
            <a:solidFill>
              <a:srgbClr val="185FA5"/>
            </a:solidFill>
            <a:prstDash val="solid"/>
          </a:ln>
        </p:spPr>
      </p:sp>
      <p:sp>
        <p:nvSpPr>
          <p:cNvPr id="23" name="Text 21"/>
          <p:cNvSpPr/>
          <p:nvPr/>
        </p:nvSpPr>
        <p:spPr>
          <a:xfrm>
            <a:off x="9058275" y="1991320"/>
            <a:ext cx="216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OPTION D · PROPOSED</a:t>
            </a:r>
            <a:endParaRPr lang="en-US" sz="1200" dirty="0"/>
          </a:p>
        </p:txBody>
      </p:sp>
      <p:sp>
        <p:nvSpPr>
          <p:cNvPr id="24" name="Text 22"/>
          <p:cNvSpPr/>
          <p:nvPr/>
        </p:nvSpPr>
        <p:spPr>
          <a:xfrm>
            <a:off x="9058275" y="2306241"/>
            <a:ext cx="216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447C"/>
                </a:solidFill>
                <a:latin typeface="IBM Plex Sans" pitchFamily="34" charset="0"/>
                <a:ea typeface="IBM Plex Sans" pitchFamily="34" charset="-122"/>
                <a:cs typeface="IBM Plex Sans" pitchFamily="34" charset="-120"/>
              </a:rPr>
              <a:t>Layered authorization</a:t>
            </a:r>
            <a:endParaRPr lang="en-US" sz="1500" dirty="0"/>
          </a:p>
        </p:txBody>
      </p:sp>
      <p:sp>
        <p:nvSpPr>
          <p:cNvPr id="25" name="Text 23"/>
          <p:cNvSpPr/>
          <p:nvPr/>
        </p:nvSpPr>
        <p:spPr>
          <a:xfrm>
            <a:off x="9058275" y="2636441"/>
            <a:ext cx="21681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447C"/>
                </a:solidFill>
                <a:latin typeface="IBM Plex Sans" pitchFamily="34" charset="0"/>
                <a:ea typeface="IBM Plex Sans" pitchFamily="34" charset="-122"/>
                <a:cs typeface="IBM Plex Sans" pitchFamily="34" charset="-120"/>
              </a:rPr>
              <a:t>Enterprise PDP as the floor, a Cerbos mission PDP that only narrows, Tyk as the AuthZEN enforcement point.</a:t>
            </a:r>
            <a:endParaRPr lang="en-US" sz="1200" dirty="0"/>
          </a:p>
        </p:txBody>
      </p:sp>
      <p:sp>
        <p:nvSpPr>
          <p:cNvPr id="26" name="Shape 24"/>
          <p:cNvSpPr/>
          <p:nvPr/>
        </p:nvSpPr>
        <p:spPr>
          <a:xfrm>
            <a:off x="9058275" y="3698677"/>
            <a:ext cx="2105025" cy="0"/>
          </a:xfrm>
          <a:prstGeom prst="line">
            <a:avLst/>
          </a:prstGeom>
          <a:noFill/>
          <a:ln w="6350">
            <a:solidFill>
              <a:srgbClr val="185FA5"/>
            </a:solidFill>
            <a:prstDash val="solid"/>
          </a:ln>
        </p:spPr>
      </p:sp>
      <p:sp>
        <p:nvSpPr>
          <p:cNvPr id="27" name="Text 25"/>
          <p:cNvSpPr/>
          <p:nvPr/>
        </p:nvSpPr>
        <p:spPr>
          <a:xfrm>
            <a:off x="9058275" y="3803452"/>
            <a:ext cx="21681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C447C"/>
                </a:solidFill>
                <a:latin typeface="IBM Plex Sans" pitchFamily="34" charset="0"/>
                <a:ea typeface="IBM Plex Sans" pitchFamily="34" charset="-122"/>
                <a:cs typeface="IBM Plex Sans" pitchFamily="34" charset="-120"/>
              </a:rPr>
              <a:t>Extends ICAM governance into mission decisions it does not have to author.</a:t>
            </a:r>
            <a:endParaRPr lang="en-US" sz="1200" dirty="0"/>
          </a:p>
        </p:txBody>
      </p:sp>
      <p:sp>
        <p:nvSpPr>
          <p:cNvPr id="28" name="Text 2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06 / 32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DECISION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It implements the mandates ICAM answers to</a:t>
            </a:r>
            <a:endParaRPr lang="en-US" sz="3000" dirty="0"/>
          </a:p>
        </p:txBody>
      </p:sp>
      <p:sp>
        <p:nvSpPr>
          <p:cNvPr id="4" name="Shape 2"/>
          <p:cNvSpPr/>
          <p:nvPr/>
        </p:nvSpPr>
        <p:spPr>
          <a:xfrm>
            <a:off x="815975" y="1778595"/>
            <a:ext cx="2520950" cy="2124472"/>
          </a:xfrm>
          <a:prstGeom prst="roundRect">
            <a:avLst>
              <a:gd name="adj" fmla="val 3437"/>
            </a:avLst>
          </a:prstGeom>
          <a:solidFill>
            <a:srgbClr val="FDFCFA"/>
          </a:solidFill>
          <a:ln w="6350">
            <a:solidFill>
              <a:srgbClr val="DEDBD2"/>
            </a:solidFill>
            <a:prstDash val="solid"/>
          </a:ln>
        </p:spPr>
      </p:sp>
      <p:sp>
        <p:nvSpPr>
          <p:cNvPr id="5" name="Text 3"/>
          <p:cNvSpPr/>
          <p:nvPr/>
        </p:nvSpPr>
        <p:spPr>
          <a:xfrm>
            <a:off x="1022350" y="19849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NIST SP 800-207</a:t>
            </a:r>
            <a:endParaRPr lang="en-US" sz="1200" dirty="0"/>
          </a:p>
        </p:txBody>
      </p:sp>
      <p:sp>
        <p:nvSpPr>
          <p:cNvPr id="6" name="Text 4"/>
          <p:cNvSpPr/>
          <p:nvPr/>
        </p:nvSpPr>
        <p:spPr>
          <a:xfrm>
            <a:off x="1022350" y="2299891"/>
            <a:ext cx="2311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Zero Trust Architecture</a:t>
            </a:r>
            <a:endParaRPr lang="en-US" sz="1500" dirty="0"/>
          </a:p>
        </p:txBody>
      </p:sp>
      <p:sp>
        <p:nvSpPr>
          <p:cNvPr id="7" name="Text 5"/>
          <p:cNvSpPr/>
          <p:nvPr/>
        </p:nvSpPr>
        <p:spPr>
          <a:xfrm>
            <a:off x="1022350" y="2630091"/>
            <a:ext cx="217144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Per-request decisions by policy decision points, enforced by policy enforcement points.</a:t>
            </a:r>
            <a:endParaRPr lang="en-US" sz="1200" dirty="0"/>
          </a:p>
        </p:txBody>
      </p:sp>
      <p:sp>
        <p:nvSpPr>
          <p:cNvPr id="8" name="Shape 6"/>
          <p:cNvSpPr/>
          <p:nvPr/>
        </p:nvSpPr>
        <p:spPr>
          <a:xfrm>
            <a:off x="3495675" y="1778595"/>
            <a:ext cx="2520950" cy="2124472"/>
          </a:xfrm>
          <a:prstGeom prst="roundRect">
            <a:avLst>
              <a:gd name="adj" fmla="val 3437"/>
            </a:avLst>
          </a:prstGeom>
          <a:solidFill>
            <a:srgbClr val="FDFCFA"/>
          </a:solidFill>
          <a:ln w="6350">
            <a:solidFill>
              <a:srgbClr val="DEDBD2"/>
            </a:solidFill>
            <a:prstDash val="solid"/>
          </a:ln>
        </p:spPr>
      </p:sp>
      <p:sp>
        <p:nvSpPr>
          <p:cNvPr id="9" name="Text 7"/>
          <p:cNvSpPr/>
          <p:nvPr/>
        </p:nvSpPr>
        <p:spPr>
          <a:xfrm>
            <a:off x="3702050" y="19849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NIST SP 800-162</a:t>
            </a:r>
            <a:endParaRPr lang="en-US" sz="1200" dirty="0"/>
          </a:p>
        </p:txBody>
      </p:sp>
      <p:sp>
        <p:nvSpPr>
          <p:cNvPr id="10" name="Text 8"/>
          <p:cNvSpPr/>
          <p:nvPr/>
        </p:nvSpPr>
        <p:spPr>
          <a:xfrm>
            <a:off x="3702050" y="22998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Attribute Based Access Control</a:t>
            </a:r>
            <a:endParaRPr lang="en-US" sz="1500" dirty="0"/>
          </a:p>
        </p:txBody>
      </p:sp>
      <p:sp>
        <p:nvSpPr>
          <p:cNvPr id="11" name="Text 9"/>
          <p:cNvSpPr/>
          <p:nvPr/>
        </p:nvSpPr>
        <p:spPr>
          <a:xfrm>
            <a:off x="3702050" y="285869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Access derived from governed subject, resource, and environment attributes.</a:t>
            </a:r>
            <a:endParaRPr lang="en-US" sz="1200" dirty="0"/>
          </a:p>
        </p:txBody>
      </p:sp>
      <p:sp>
        <p:nvSpPr>
          <p:cNvPr id="12" name="Shape 10"/>
          <p:cNvSpPr/>
          <p:nvPr/>
        </p:nvSpPr>
        <p:spPr>
          <a:xfrm>
            <a:off x="6175375" y="1778595"/>
            <a:ext cx="2520950" cy="2124472"/>
          </a:xfrm>
          <a:prstGeom prst="roundRect">
            <a:avLst>
              <a:gd name="adj" fmla="val 3437"/>
            </a:avLst>
          </a:prstGeom>
          <a:solidFill>
            <a:srgbClr val="FDFCFA"/>
          </a:solidFill>
          <a:ln w="6350">
            <a:solidFill>
              <a:srgbClr val="DEDBD2"/>
            </a:solidFill>
            <a:prstDash val="solid"/>
          </a:ln>
        </p:spPr>
      </p:sp>
      <p:sp>
        <p:nvSpPr>
          <p:cNvPr id="13" name="Text 11"/>
          <p:cNvSpPr/>
          <p:nvPr/>
        </p:nvSpPr>
        <p:spPr>
          <a:xfrm>
            <a:off x="6381750" y="19849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NIST SP 800-53 R5</a:t>
            </a:r>
            <a:endParaRPr lang="en-US" sz="1200" dirty="0"/>
          </a:p>
        </p:txBody>
      </p:sp>
      <p:sp>
        <p:nvSpPr>
          <p:cNvPr id="14" name="Text 12"/>
          <p:cNvSpPr/>
          <p:nvPr/>
        </p:nvSpPr>
        <p:spPr>
          <a:xfrm>
            <a:off x="6381750" y="2299891"/>
            <a:ext cx="2171446"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Security and Privacy Controls</a:t>
            </a:r>
            <a:endParaRPr lang="en-US" sz="1500" dirty="0"/>
          </a:p>
        </p:txBody>
      </p:sp>
      <p:sp>
        <p:nvSpPr>
          <p:cNvPr id="15" name="Text 13"/>
          <p:cNvSpPr/>
          <p:nvPr/>
        </p:nvSpPr>
        <p:spPr>
          <a:xfrm>
            <a:off x="6381750" y="285869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Including AC-3, AC-16, and AC-24. Full mapping later in this deck.</a:t>
            </a:r>
            <a:endParaRPr lang="en-US" sz="1200" dirty="0"/>
          </a:p>
        </p:txBody>
      </p:sp>
      <p:sp>
        <p:nvSpPr>
          <p:cNvPr id="16" name="Shape 14"/>
          <p:cNvSpPr/>
          <p:nvPr/>
        </p:nvSpPr>
        <p:spPr>
          <a:xfrm>
            <a:off x="8855075" y="1778595"/>
            <a:ext cx="2520950" cy="2124472"/>
          </a:xfrm>
          <a:prstGeom prst="roundRect">
            <a:avLst>
              <a:gd name="adj" fmla="val 3437"/>
            </a:avLst>
          </a:prstGeom>
          <a:solidFill>
            <a:srgbClr val="FDFCFA"/>
          </a:solidFill>
          <a:ln w="6350">
            <a:solidFill>
              <a:srgbClr val="DEDBD2"/>
            </a:solidFill>
            <a:prstDash val="solid"/>
          </a:ln>
        </p:spPr>
      </p:sp>
      <p:sp>
        <p:nvSpPr>
          <p:cNvPr id="17" name="Text 15"/>
          <p:cNvSpPr/>
          <p:nvPr/>
        </p:nvSpPr>
        <p:spPr>
          <a:xfrm>
            <a:off x="9061450" y="19849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OpenID AuthZEN 1.0</a:t>
            </a:r>
            <a:endParaRPr lang="en-US" sz="1200" dirty="0"/>
          </a:p>
        </p:txBody>
      </p:sp>
      <p:sp>
        <p:nvSpPr>
          <p:cNvPr id="18" name="Text 16"/>
          <p:cNvSpPr/>
          <p:nvPr/>
        </p:nvSpPr>
        <p:spPr>
          <a:xfrm>
            <a:off x="9061450" y="22998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E"/>
                </a:solidFill>
                <a:latin typeface="IBM Plex Sans" pitchFamily="34" charset="0"/>
                <a:ea typeface="IBM Plex Sans" pitchFamily="34" charset="-122"/>
                <a:cs typeface="IBM Plex Sans" pitchFamily="34" charset="-120"/>
              </a:rPr>
              <a:t>Authorization API</a:t>
            </a:r>
            <a:endParaRPr lang="en-US" sz="1500" dirty="0"/>
          </a:p>
        </p:txBody>
      </p:sp>
      <p:sp>
        <p:nvSpPr>
          <p:cNvPr id="19" name="Text 17"/>
          <p:cNvSpPr/>
          <p:nvPr/>
        </p:nvSpPr>
        <p:spPr>
          <a:xfrm>
            <a:off x="9061450" y="2630091"/>
            <a:ext cx="2171446"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44B"/>
                </a:solidFill>
                <a:latin typeface="IBM Plex Sans" pitchFamily="34" charset="0"/>
                <a:ea typeface="IBM Plex Sans" pitchFamily="34" charset="-122"/>
                <a:cs typeface="IBM Plex Sans" pitchFamily="34" charset="-120"/>
              </a:rPr>
              <a:t>An approved OpenID Foundation Final Specification for PEP to PDP calls, so no mission depends on a single vendor.</a:t>
            </a:r>
            <a:endParaRPr lang="en-US" sz="1200" dirty="0"/>
          </a:p>
        </p:txBody>
      </p:sp>
      <p:sp>
        <p:nvSpPr>
          <p:cNvPr id="20" name="Text 18"/>
          <p:cNvSpPr/>
          <p:nvPr/>
        </p:nvSpPr>
        <p:spPr>
          <a:xfrm>
            <a:off x="812800" y="4160242"/>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02E"/>
                </a:solidFill>
                <a:latin typeface="IBM Plex Sans" pitchFamily="34" charset="0"/>
                <a:ea typeface="IBM Plex Sans" pitchFamily="34" charset="-122"/>
                <a:cs typeface="IBM Plex Sans" pitchFamily="34" charset="-120"/>
              </a:rPr>
              <a:t>This is the target architecture enterprise ICAM is already measured against.</a:t>
            </a:r>
            <a:endParaRPr lang="en-US" sz="1800" dirty="0"/>
          </a:p>
        </p:txBody>
      </p:sp>
      <p:sp>
        <p:nvSpPr>
          <p:cNvPr id="21" name="Text 1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07 / 32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DECISION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Six design principles</a:t>
            </a:r>
            <a:endParaRPr lang="en-US" sz="3000" dirty="0"/>
          </a:p>
        </p:txBody>
      </p:sp>
      <p:sp>
        <p:nvSpPr>
          <p:cNvPr id="4" name="Shape 2"/>
          <p:cNvSpPr/>
          <p:nvPr/>
        </p:nvSpPr>
        <p:spPr>
          <a:xfrm>
            <a:off x="815975" y="1778595"/>
            <a:ext cx="3414167" cy="1532781"/>
          </a:xfrm>
          <a:prstGeom prst="roundRect">
            <a:avLst>
              <a:gd name="adj" fmla="val 4764"/>
            </a:avLst>
          </a:prstGeom>
          <a:solidFill>
            <a:srgbClr val="FDFCFA"/>
          </a:solidFill>
          <a:ln w="6350">
            <a:solidFill>
              <a:srgbClr val="DEDBD2"/>
            </a:solidFill>
            <a:prstDash val="solid"/>
          </a:ln>
        </p:spPr>
      </p:sp>
      <p:sp>
        <p:nvSpPr>
          <p:cNvPr id="5" name="Text 3"/>
          <p:cNvSpPr/>
          <p:nvPr/>
        </p:nvSpPr>
        <p:spPr>
          <a:xfrm>
            <a:off x="996950" y="1959570"/>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996950" y="2236391"/>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The enterprise is the floor</a:t>
            </a:r>
            <a:endParaRPr lang="en-US" sz="1400" dirty="0"/>
          </a:p>
        </p:txBody>
      </p:sp>
      <p:sp>
        <p:nvSpPr>
          <p:cNvPr id="7" name="Text 5"/>
          <p:cNvSpPr/>
          <p:nvPr/>
        </p:nvSpPr>
        <p:spPr>
          <a:xfrm>
            <a:off x="996950" y="2513211"/>
            <a:ext cx="314378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Deny-overrides: the mission may add restrictions, never grant what the enterprise denies.</a:t>
            </a:r>
            <a:endParaRPr lang="en-US" sz="1200" dirty="0"/>
          </a:p>
        </p:txBody>
      </p:sp>
      <p:sp>
        <p:nvSpPr>
          <p:cNvPr id="8" name="Shape 6"/>
          <p:cNvSpPr/>
          <p:nvPr/>
        </p:nvSpPr>
        <p:spPr>
          <a:xfrm>
            <a:off x="4388892" y="1778595"/>
            <a:ext cx="3414167" cy="1532781"/>
          </a:xfrm>
          <a:prstGeom prst="roundRect">
            <a:avLst>
              <a:gd name="adj" fmla="val 4764"/>
            </a:avLst>
          </a:prstGeom>
          <a:solidFill>
            <a:srgbClr val="FDFCFA"/>
          </a:solidFill>
          <a:ln w="6350">
            <a:solidFill>
              <a:srgbClr val="DEDBD2"/>
            </a:solidFill>
            <a:prstDash val="solid"/>
          </a:ln>
        </p:spPr>
      </p:sp>
      <p:sp>
        <p:nvSpPr>
          <p:cNvPr id="9" name="Text 7"/>
          <p:cNvSpPr/>
          <p:nvPr/>
        </p:nvSpPr>
        <p:spPr>
          <a:xfrm>
            <a:off x="4569867" y="1959570"/>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4569867" y="2236391"/>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ICAM governs the pattern</a:t>
            </a:r>
            <a:endParaRPr lang="en-US" sz="1400" dirty="0"/>
          </a:p>
        </p:txBody>
      </p:sp>
      <p:sp>
        <p:nvSpPr>
          <p:cNvPr id="11" name="Text 9"/>
          <p:cNvSpPr/>
          <p:nvPr/>
        </p:nvSpPr>
        <p:spPr>
          <a:xfrm>
            <a:off x="4569867" y="2513211"/>
            <a:ext cx="314378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ICAM approves envelopes, the composition rule, mission adoption, and attribute promotion.</a:t>
            </a:r>
            <a:endParaRPr lang="en-US" sz="1200" dirty="0"/>
          </a:p>
        </p:txBody>
      </p:sp>
      <p:sp>
        <p:nvSpPr>
          <p:cNvPr id="12" name="Shape 10"/>
          <p:cNvSpPr/>
          <p:nvPr/>
        </p:nvSpPr>
        <p:spPr>
          <a:xfrm>
            <a:off x="7961809" y="1778595"/>
            <a:ext cx="3414216" cy="1532781"/>
          </a:xfrm>
          <a:prstGeom prst="roundRect">
            <a:avLst>
              <a:gd name="adj" fmla="val 4764"/>
            </a:avLst>
          </a:prstGeom>
          <a:solidFill>
            <a:srgbClr val="FDFCFA"/>
          </a:solidFill>
          <a:ln w="6350">
            <a:solidFill>
              <a:srgbClr val="DEDBD2"/>
            </a:solidFill>
            <a:prstDash val="solid"/>
          </a:ln>
        </p:spPr>
      </p:sp>
      <p:sp>
        <p:nvSpPr>
          <p:cNvPr id="13" name="Text 11"/>
          <p:cNvSpPr/>
          <p:nvPr/>
        </p:nvSpPr>
        <p:spPr>
          <a:xfrm>
            <a:off x="8142784" y="1959570"/>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03</a:t>
            </a:r>
            <a:endParaRPr lang="en-US" sz="1200" dirty="0"/>
          </a:p>
        </p:txBody>
      </p:sp>
      <p:sp>
        <p:nvSpPr>
          <p:cNvPr id="14" name="Text 12"/>
          <p:cNvSpPr/>
          <p:nvPr/>
        </p:nvSpPr>
        <p:spPr>
          <a:xfrm>
            <a:off x="8142784" y="223639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Ownership follows rate of change</a:t>
            </a:r>
            <a:endParaRPr lang="en-US" sz="1400" dirty="0"/>
          </a:p>
        </p:txBody>
      </p:sp>
      <p:sp>
        <p:nvSpPr>
          <p:cNvPr id="15" name="Text 13"/>
          <p:cNvSpPr/>
          <p:nvPr/>
        </p:nvSpPr>
        <p:spPr>
          <a:xfrm>
            <a:off x="8142784" y="2513211"/>
            <a:ext cx="314383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Slow-changing identity stays with ICAM. Fast-changing mission rules sit with the teams closest to them.</a:t>
            </a:r>
            <a:endParaRPr lang="en-US" sz="1200" dirty="0"/>
          </a:p>
        </p:txBody>
      </p:sp>
      <p:sp>
        <p:nvSpPr>
          <p:cNvPr id="16" name="Shape 14"/>
          <p:cNvSpPr/>
          <p:nvPr/>
        </p:nvSpPr>
        <p:spPr>
          <a:xfrm>
            <a:off x="815975" y="3470126"/>
            <a:ext cx="3414167" cy="1532781"/>
          </a:xfrm>
          <a:prstGeom prst="roundRect">
            <a:avLst>
              <a:gd name="adj" fmla="val 4764"/>
            </a:avLst>
          </a:prstGeom>
          <a:solidFill>
            <a:srgbClr val="FDFCFA"/>
          </a:solidFill>
          <a:ln w="6350">
            <a:solidFill>
              <a:srgbClr val="DEDBD2"/>
            </a:solidFill>
            <a:prstDash val="solid"/>
          </a:ln>
        </p:spPr>
      </p:sp>
      <p:sp>
        <p:nvSpPr>
          <p:cNvPr id="17" name="Text 15"/>
          <p:cNvSpPr/>
          <p:nvPr/>
        </p:nvSpPr>
        <p:spPr>
          <a:xfrm>
            <a:off x="996950" y="3651101"/>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04</a:t>
            </a:r>
            <a:endParaRPr lang="en-US" sz="1200" dirty="0"/>
          </a:p>
        </p:txBody>
      </p:sp>
      <p:sp>
        <p:nvSpPr>
          <p:cNvPr id="18" name="Text 16"/>
          <p:cNvSpPr/>
          <p:nvPr/>
        </p:nvSpPr>
        <p:spPr>
          <a:xfrm>
            <a:off x="996950" y="3927921"/>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The mission never authenticates</a:t>
            </a:r>
            <a:endParaRPr lang="en-US" sz="1400" dirty="0"/>
          </a:p>
        </p:txBody>
      </p:sp>
      <p:sp>
        <p:nvSpPr>
          <p:cNvPr id="19" name="Text 17"/>
          <p:cNvSpPr/>
          <p:nvPr/>
        </p:nvSpPr>
        <p:spPr>
          <a:xfrm>
            <a:off x="996950" y="4204742"/>
            <a:ext cx="314378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The STS and MFA remain the only source of identity and the only place stronger proof is collected.</a:t>
            </a:r>
            <a:endParaRPr lang="en-US" sz="1200" dirty="0"/>
          </a:p>
        </p:txBody>
      </p:sp>
      <p:sp>
        <p:nvSpPr>
          <p:cNvPr id="20" name="Shape 18"/>
          <p:cNvSpPr/>
          <p:nvPr/>
        </p:nvSpPr>
        <p:spPr>
          <a:xfrm>
            <a:off x="4388892" y="3470126"/>
            <a:ext cx="3414167" cy="1532781"/>
          </a:xfrm>
          <a:prstGeom prst="roundRect">
            <a:avLst>
              <a:gd name="adj" fmla="val 4764"/>
            </a:avLst>
          </a:prstGeom>
          <a:solidFill>
            <a:srgbClr val="FDFCFA"/>
          </a:solidFill>
          <a:ln w="6350">
            <a:solidFill>
              <a:srgbClr val="DEDBD2"/>
            </a:solidFill>
            <a:prstDash val="solid"/>
          </a:ln>
        </p:spPr>
      </p:sp>
      <p:sp>
        <p:nvSpPr>
          <p:cNvPr id="21" name="Text 19"/>
          <p:cNvSpPr/>
          <p:nvPr/>
        </p:nvSpPr>
        <p:spPr>
          <a:xfrm>
            <a:off x="4569867" y="3651101"/>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05</a:t>
            </a:r>
            <a:endParaRPr lang="en-US" sz="1200" dirty="0"/>
          </a:p>
        </p:txBody>
      </p:sp>
      <p:sp>
        <p:nvSpPr>
          <p:cNvPr id="22" name="Text 20"/>
          <p:cNvSpPr/>
          <p:nvPr/>
        </p:nvSpPr>
        <p:spPr>
          <a:xfrm>
            <a:off x="4569867" y="3927921"/>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One standard contract</a:t>
            </a:r>
            <a:endParaRPr lang="en-US" sz="1400" dirty="0"/>
          </a:p>
        </p:txBody>
      </p:sp>
      <p:sp>
        <p:nvSpPr>
          <p:cNvPr id="23" name="Text 21"/>
          <p:cNvSpPr/>
          <p:nvPr/>
        </p:nvSpPr>
        <p:spPr>
          <a:xfrm>
            <a:off x="4569867" y="4204742"/>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Applications ask through AuthZEN and never depend on which engine answered.</a:t>
            </a:r>
            <a:endParaRPr lang="en-US" sz="1200" dirty="0"/>
          </a:p>
        </p:txBody>
      </p:sp>
      <p:sp>
        <p:nvSpPr>
          <p:cNvPr id="24" name="Shape 22"/>
          <p:cNvSpPr/>
          <p:nvPr/>
        </p:nvSpPr>
        <p:spPr>
          <a:xfrm>
            <a:off x="7961809" y="3470126"/>
            <a:ext cx="3414216" cy="1532781"/>
          </a:xfrm>
          <a:prstGeom prst="roundRect">
            <a:avLst>
              <a:gd name="adj" fmla="val 4764"/>
            </a:avLst>
          </a:prstGeom>
          <a:solidFill>
            <a:srgbClr val="FDFCFA"/>
          </a:solidFill>
          <a:ln w="6350">
            <a:solidFill>
              <a:srgbClr val="DEDBD2"/>
            </a:solidFill>
            <a:prstDash val="solid"/>
          </a:ln>
        </p:spPr>
      </p:sp>
      <p:sp>
        <p:nvSpPr>
          <p:cNvPr id="25" name="Text 23"/>
          <p:cNvSpPr/>
          <p:nvPr/>
        </p:nvSpPr>
        <p:spPr>
          <a:xfrm>
            <a:off x="8142784" y="3651101"/>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06</a:t>
            </a:r>
            <a:endParaRPr lang="en-US" sz="1200" dirty="0"/>
          </a:p>
        </p:txBody>
      </p:sp>
      <p:sp>
        <p:nvSpPr>
          <p:cNvPr id="26" name="Text 24"/>
          <p:cNvSpPr/>
          <p:nvPr/>
        </p:nvSpPr>
        <p:spPr>
          <a:xfrm>
            <a:off x="8142784" y="392792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No business rules in the gateway</a:t>
            </a:r>
            <a:endParaRPr lang="en-US" sz="1400" dirty="0"/>
          </a:p>
        </p:txBody>
      </p:sp>
      <p:sp>
        <p:nvSpPr>
          <p:cNvPr id="27" name="Text 25"/>
          <p:cNvSpPr/>
          <p:nvPr/>
        </p:nvSpPr>
        <p:spPr>
          <a:xfrm>
            <a:off x="8142784" y="4204742"/>
            <a:ext cx="314383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It validates, asks, composes, and logs. Policy lives only in the PDPs, where it is reviewed and tested.</a:t>
            </a:r>
            <a:endParaRPr lang="en-US" sz="1200" dirty="0"/>
          </a:p>
        </p:txBody>
      </p:sp>
      <p:sp>
        <p:nvSpPr>
          <p:cNvPr id="28" name="Text 26"/>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08 /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ARCHITECTURE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One identity check, two decisions, one verdict</a:t>
            </a:r>
            <a:endParaRPr lang="en-US" sz="3000" dirty="0"/>
          </a:p>
        </p:txBody>
      </p:sp>
      <p:sp>
        <p:nvSpPr>
          <p:cNvPr id="4" name="Shape 2"/>
          <p:cNvSpPr/>
          <p:nvPr/>
        </p:nvSpPr>
        <p:spPr>
          <a:xfrm>
            <a:off x="819150" y="3331170"/>
            <a:ext cx="1574800" cy="850900"/>
          </a:xfrm>
          <a:prstGeom prst="roundRect">
            <a:avLst>
              <a:gd name="adj" fmla="val 6716"/>
            </a:avLst>
          </a:prstGeom>
          <a:solidFill>
            <a:srgbClr val="E6F1FB"/>
          </a:solidFill>
          <a:ln w="12700">
            <a:solidFill>
              <a:srgbClr val="185FA5"/>
            </a:solidFill>
            <a:prstDash val="solid"/>
          </a:ln>
        </p:spPr>
      </p:sp>
      <p:sp>
        <p:nvSpPr>
          <p:cNvPr id="5" name="Text 3"/>
          <p:cNvSpPr/>
          <p:nvPr/>
        </p:nvSpPr>
        <p:spPr>
          <a:xfrm>
            <a:off x="927100" y="3439120"/>
            <a:ext cx="14097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C447C"/>
                </a:solidFill>
                <a:latin typeface="IBM Plex Sans" pitchFamily="34" charset="0"/>
                <a:ea typeface="IBM Plex Sans" pitchFamily="34" charset="-122"/>
                <a:cs typeface="IBM Plex Sans" pitchFamily="34" charset="-120"/>
              </a:rPr>
              <a:t>STS + MFA</a:t>
            </a:r>
            <a:endParaRPr lang="en-US" sz="1200" dirty="0"/>
          </a:p>
        </p:txBody>
      </p:sp>
      <p:sp>
        <p:nvSpPr>
          <p:cNvPr id="6" name="Text 4"/>
          <p:cNvSpPr/>
          <p:nvPr/>
        </p:nvSpPr>
        <p:spPr>
          <a:xfrm>
            <a:off x="927100" y="3655020"/>
            <a:ext cx="14097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C447C"/>
                </a:solidFill>
                <a:latin typeface="IBM Plex Sans" pitchFamily="34" charset="0"/>
                <a:ea typeface="IBM Plex Sans" pitchFamily="34" charset="-122"/>
                <a:cs typeface="IBM Plex Sans" pitchFamily="34" charset="-120"/>
              </a:rPr>
              <a:t>Proves who, issues signed token</a:t>
            </a:r>
            <a:endParaRPr lang="en-US" sz="1200" dirty="0"/>
          </a:p>
        </p:txBody>
      </p:sp>
      <p:sp>
        <p:nvSpPr>
          <p:cNvPr id="7" name="Shape 5"/>
          <p:cNvSpPr/>
          <p:nvPr/>
        </p:nvSpPr>
        <p:spPr>
          <a:xfrm>
            <a:off x="2825750" y="3331170"/>
            <a:ext cx="1511300" cy="850900"/>
          </a:xfrm>
          <a:prstGeom prst="roundRect">
            <a:avLst>
              <a:gd name="adj" fmla="val 6716"/>
            </a:avLst>
          </a:prstGeom>
          <a:solidFill>
            <a:srgbClr val="F1EFE8"/>
          </a:solidFill>
          <a:ln w="12700">
            <a:solidFill>
              <a:srgbClr val="5F5E5A"/>
            </a:solidFill>
            <a:prstDash val="solid"/>
          </a:ln>
        </p:spPr>
      </p:sp>
      <p:sp>
        <p:nvSpPr>
          <p:cNvPr id="8" name="Text 6"/>
          <p:cNvSpPr/>
          <p:nvPr/>
        </p:nvSpPr>
        <p:spPr>
          <a:xfrm>
            <a:off x="2933700" y="3439120"/>
            <a:ext cx="13462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44441"/>
                </a:solidFill>
                <a:latin typeface="IBM Plex Sans" pitchFamily="34" charset="0"/>
                <a:ea typeface="IBM Plex Sans" pitchFamily="34" charset="-122"/>
                <a:cs typeface="IBM Plex Sans" pitchFamily="34" charset="-120"/>
              </a:rPr>
              <a:t>Applications</a:t>
            </a:r>
            <a:endParaRPr lang="en-US" sz="1200" dirty="0"/>
          </a:p>
        </p:txBody>
      </p:sp>
      <p:sp>
        <p:nvSpPr>
          <p:cNvPr id="9" name="Text 7"/>
          <p:cNvSpPr/>
          <p:nvPr/>
        </p:nvSpPr>
        <p:spPr>
          <a:xfrm>
            <a:off x="2933700" y="3655020"/>
            <a:ext cx="13462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44441"/>
                </a:solidFill>
                <a:latin typeface="IBM Plex Sans" pitchFamily="34" charset="0"/>
                <a:ea typeface="IBM Plex Sans" pitchFamily="34" charset="-122"/>
                <a:cs typeface="IBM Plex Sans" pitchFamily="34" charset="-120"/>
              </a:rPr>
              <a:t>Present token, no auth logic</a:t>
            </a:r>
            <a:endParaRPr lang="en-US" sz="1200" dirty="0"/>
          </a:p>
        </p:txBody>
      </p:sp>
      <p:sp>
        <p:nvSpPr>
          <p:cNvPr id="10" name="Shape 8"/>
          <p:cNvSpPr/>
          <p:nvPr/>
        </p:nvSpPr>
        <p:spPr>
          <a:xfrm>
            <a:off x="4772025" y="2800945"/>
            <a:ext cx="1885950" cy="1911350"/>
          </a:xfrm>
          <a:prstGeom prst="roundRect">
            <a:avLst>
              <a:gd name="adj" fmla="val 2862"/>
            </a:avLst>
          </a:prstGeom>
          <a:solidFill>
            <a:srgbClr val="EEEDFE"/>
          </a:solidFill>
          <a:ln w="19050">
            <a:solidFill>
              <a:srgbClr val="534AB7"/>
            </a:solidFill>
            <a:prstDash val="solid"/>
          </a:ln>
        </p:spPr>
      </p:sp>
      <p:sp>
        <p:nvSpPr>
          <p:cNvPr id="11" name="Text 9"/>
          <p:cNvSpPr/>
          <p:nvPr/>
        </p:nvSpPr>
        <p:spPr>
          <a:xfrm>
            <a:off x="4908550" y="2937470"/>
            <a:ext cx="16637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3C3489"/>
                </a:solidFill>
                <a:latin typeface="IBM Plex Sans" pitchFamily="34" charset="0"/>
                <a:ea typeface="IBM Plex Sans" pitchFamily="34" charset="-122"/>
                <a:cs typeface="IBM Plex Sans" pitchFamily="34" charset="-120"/>
              </a:rPr>
              <a:t>Tyk Gateway (OSS)</a:t>
            </a:r>
            <a:endParaRPr lang="en-US" sz="1200" dirty="0"/>
          </a:p>
        </p:txBody>
      </p:sp>
      <p:sp>
        <p:nvSpPr>
          <p:cNvPr id="12" name="Text 10"/>
          <p:cNvSpPr/>
          <p:nvPr/>
        </p:nvSpPr>
        <p:spPr>
          <a:xfrm>
            <a:off x="4908550" y="3178770"/>
            <a:ext cx="1663700" cy="141203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C3489"/>
                </a:solidFill>
                <a:latin typeface="IBM Plex Sans" pitchFamily="34" charset="0"/>
                <a:ea typeface="IBM Plex Sans" pitchFamily="34" charset="-122"/>
                <a:cs typeface="IBM Plex Sans" pitchFamily="34" charset="-120"/>
              </a:rPr>
              <a:t>Enforcement point. Validates the STS token, asks both PDPs over AuthZEN, composes with deny-overrides, logs both verdicts.</a:t>
            </a:r>
            <a:endParaRPr lang="en-US" sz="1200" dirty="0"/>
          </a:p>
        </p:txBody>
      </p:sp>
      <p:sp>
        <p:nvSpPr>
          <p:cNvPr id="13" name="Shape 11"/>
          <p:cNvSpPr/>
          <p:nvPr/>
        </p:nvSpPr>
        <p:spPr>
          <a:xfrm>
            <a:off x="7092950" y="1730970"/>
            <a:ext cx="2146300" cy="850900"/>
          </a:xfrm>
          <a:prstGeom prst="roundRect">
            <a:avLst>
              <a:gd name="adj" fmla="val 6716"/>
            </a:avLst>
          </a:prstGeom>
          <a:solidFill>
            <a:srgbClr val="E6F1FB"/>
          </a:solidFill>
          <a:ln w="12700">
            <a:solidFill>
              <a:srgbClr val="185FA5"/>
            </a:solidFill>
            <a:prstDash val="solid"/>
          </a:ln>
        </p:spPr>
      </p:sp>
      <p:sp>
        <p:nvSpPr>
          <p:cNvPr id="14" name="Text 12"/>
          <p:cNvSpPr/>
          <p:nvPr/>
        </p:nvSpPr>
        <p:spPr>
          <a:xfrm>
            <a:off x="7200900" y="1838920"/>
            <a:ext cx="198831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C447C"/>
                </a:solidFill>
                <a:latin typeface="IBM Plex Sans" pitchFamily="34" charset="0"/>
                <a:ea typeface="IBM Plex Sans" pitchFamily="34" charset="-122"/>
                <a:cs typeface="IBM Plex Sans" pitchFamily="34" charset="-120"/>
              </a:rPr>
              <a:t>ICAM entitlements</a:t>
            </a:r>
            <a:endParaRPr lang="en-US" sz="1200" dirty="0"/>
          </a:p>
        </p:txBody>
      </p:sp>
      <p:sp>
        <p:nvSpPr>
          <p:cNvPr id="15" name="Text 13"/>
          <p:cNvSpPr/>
          <p:nvPr/>
        </p:nvSpPr>
        <p:spPr>
          <a:xfrm>
            <a:off x="7200900" y="2054820"/>
            <a:ext cx="1988312"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C447C"/>
                </a:solidFill>
                <a:latin typeface="IBM Plex Sans" pitchFamily="34" charset="0"/>
                <a:ea typeface="IBM Plex Sans" pitchFamily="34" charset="-122"/>
                <a:cs typeface="IBM Plex Sans" pitchFamily="34" charset="-120"/>
              </a:rPr>
              <a:t>Clearances, envelopes; approved by ICAM</a:t>
            </a:r>
            <a:endParaRPr lang="en-US" sz="1200" dirty="0"/>
          </a:p>
        </p:txBody>
      </p:sp>
      <p:sp>
        <p:nvSpPr>
          <p:cNvPr id="16" name="Shape 14"/>
          <p:cNvSpPr/>
          <p:nvPr/>
        </p:nvSpPr>
        <p:spPr>
          <a:xfrm>
            <a:off x="7092950" y="2797770"/>
            <a:ext cx="2146300" cy="850900"/>
          </a:xfrm>
          <a:prstGeom prst="roundRect">
            <a:avLst>
              <a:gd name="adj" fmla="val 6716"/>
            </a:avLst>
          </a:prstGeom>
          <a:solidFill>
            <a:srgbClr val="E6F1FB"/>
          </a:solidFill>
          <a:ln w="12700">
            <a:solidFill>
              <a:srgbClr val="185FA5"/>
            </a:solidFill>
            <a:prstDash val="solid"/>
          </a:ln>
        </p:spPr>
      </p:sp>
      <p:sp>
        <p:nvSpPr>
          <p:cNvPr id="17" name="Text 15"/>
          <p:cNvSpPr/>
          <p:nvPr/>
        </p:nvSpPr>
        <p:spPr>
          <a:xfrm>
            <a:off x="7200900" y="2905720"/>
            <a:ext cx="198831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C447C"/>
                </a:solidFill>
                <a:latin typeface="IBM Plex Sans" pitchFamily="34" charset="0"/>
                <a:ea typeface="IBM Plex Sans" pitchFamily="34" charset="-122"/>
                <a:cs typeface="IBM Plex Sans" pitchFamily="34" charset="-120"/>
              </a:rPr>
              <a:t>1 · Enterprise PDP</a:t>
            </a:r>
            <a:endParaRPr lang="en-US" sz="1200" dirty="0"/>
          </a:p>
        </p:txBody>
      </p:sp>
      <p:sp>
        <p:nvSpPr>
          <p:cNvPr id="18" name="Text 16"/>
          <p:cNvSpPr/>
          <p:nvPr/>
        </p:nvSpPr>
        <p:spPr>
          <a:xfrm>
            <a:off x="7200900" y="3121620"/>
            <a:ext cx="198831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C447C"/>
                </a:solidFill>
                <a:latin typeface="IBM Plex Sans" pitchFamily="34" charset="0"/>
                <a:ea typeface="IBM Plex Sans" pitchFamily="34" charset="-122"/>
                <a:cs typeface="IBM Plex Sans" pitchFamily="34" charset="-120"/>
              </a:rPr>
              <a:t>Policy floor, evaluated first</a:t>
            </a:r>
            <a:endParaRPr lang="en-US" sz="1200" dirty="0"/>
          </a:p>
        </p:txBody>
      </p:sp>
      <p:sp>
        <p:nvSpPr>
          <p:cNvPr id="19" name="Shape 17"/>
          <p:cNvSpPr/>
          <p:nvPr/>
        </p:nvSpPr>
        <p:spPr>
          <a:xfrm>
            <a:off x="7092950" y="3864570"/>
            <a:ext cx="2146300" cy="850900"/>
          </a:xfrm>
          <a:prstGeom prst="roundRect">
            <a:avLst>
              <a:gd name="adj" fmla="val 6716"/>
            </a:avLst>
          </a:prstGeom>
          <a:solidFill>
            <a:srgbClr val="E1F5EE"/>
          </a:solidFill>
          <a:ln w="12700">
            <a:solidFill>
              <a:srgbClr val="0F6E56"/>
            </a:solidFill>
            <a:prstDash val="solid"/>
          </a:ln>
        </p:spPr>
      </p:sp>
      <p:sp>
        <p:nvSpPr>
          <p:cNvPr id="20" name="Text 18"/>
          <p:cNvSpPr/>
          <p:nvPr/>
        </p:nvSpPr>
        <p:spPr>
          <a:xfrm>
            <a:off x="7200900" y="3972520"/>
            <a:ext cx="198831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85041"/>
                </a:solidFill>
                <a:latin typeface="IBM Plex Sans" pitchFamily="34" charset="0"/>
                <a:ea typeface="IBM Plex Sans" pitchFamily="34" charset="-122"/>
                <a:cs typeface="IBM Plex Sans" pitchFamily="34" charset="-120"/>
              </a:rPr>
              <a:t>2 · Edge PDP (Cerbos)</a:t>
            </a:r>
            <a:endParaRPr lang="en-US" sz="1200" dirty="0"/>
          </a:p>
        </p:txBody>
      </p:sp>
      <p:sp>
        <p:nvSpPr>
          <p:cNvPr id="21" name="Text 19"/>
          <p:cNvSpPr/>
          <p:nvPr/>
        </p:nvSpPr>
        <p:spPr>
          <a:xfrm>
            <a:off x="7200900" y="4188420"/>
            <a:ext cx="1988312"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85041"/>
                </a:solidFill>
                <a:latin typeface="IBM Plex Sans" pitchFamily="34" charset="0"/>
                <a:ea typeface="IBM Plex Sans" pitchFamily="34" charset="-122"/>
                <a:cs typeface="IBM Plex Sans" pitchFamily="34" charset="-120"/>
              </a:rPr>
              <a:t>Case, role, step-up; restricts only</a:t>
            </a:r>
            <a:endParaRPr lang="en-US" sz="1200" dirty="0"/>
          </a:p>
        </p:txBody>
      </p:sp>
      <p:sp>
        <p:nvSpPr>
          <p:cNvPr id="22" name="Shape 20"/>
          <p:cNvSpPr/>
          <p:nvPr/>
        </p:nvSpPr>
        <p:spPr>
          <a:xfrm>
            <a:off x="7092950" y="4931370"/>
            <a:ext cx="2146300" cy="850900"/>
          </a:xfrm>
          <a:prstGeom prst="roundRect">
            <a:avLst>
              <a:gd name="adj" fmla="val 6716"/>
            </a:avLst>
          </a:prstGeom>
          <a:solidFill>
            <a:srgbClr val="E1F5EE"/>
          </a:solidFill>
          <a:ln w="12700">
            <a:solidFill>
              <a:srgbClr val="0F6E56"/>
            </a:solidFill>
            <a:prstDash val="solid"/>
          </a:ln>
        </p:spPr>
      </p:sp>
      <p:sp>
        <p:nvSpPr>
          <p:cNvPr id="23" name="Text 21"/>
          <p:cNvSpPr/>
          <p:nvPr/>
        </p:nvSpPr>
        <p:spPr>
          <a:xfrm>
            <a:off x="7200900" y="5039320"/>
            <a:ext cx="1988312"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85041"/>
                </a:solidFill>
                <a:latin typeface="IBM Plex Sans" pitchFamily="34" charset="0"/>
                <a:ea typeface="IBM Plex Sans" pitchFamily="34" charset="-122"/>
                <a:cs typeface="IBM Plex Sans" pitchFamily="34" charset="-120"/>
              </a:rPr>
              <a:t>Mission entitlements</a:t>
            </a:r>
            <a:endParaRPr lang="en-US" sz="1200" dirty="0"/>
          </a:p>
        </p:txBody>
      </p:sp>
      <p:sp>
        <p:nvSpPr>
          <p:cNvPr id="24" name="Text 22"/>
          <p:cNvSpPr/>
          <p:nvPr/>
        </p:nvSpPr>
        <p:spPr>
          <a:xfrm>
            <a:off x="7200900" y="5255220"/>
            <a:ext cx="1988312"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085041"/>
                </a:solidFill>
                <a:latin typeface="IBM Plex Sans" pitchFamily="34" charset="0"/>
                <a:ea typeface="IBM Plex Sans" pitchFamily="34" charset="-122"/>
                <a:cs typeface="IBM Plex Sans" pitchFamily="34" charset="-120"/>
              </a:rPr>
              <a:t>Case and role grants; approved by stewards</a:t>
            </a:r>
            <a:endParaRPr lang="en-US" sz="1200" dirty="0"/>
          </a:p>
        </p:txBody>
      </p:sp>
      <p:sp>
        <p:nvSpPr>
          <p:cNvPr id="25" name="Shape 23"/>
          <p:cNvSpPr/>
          <p:nvPr/>
        </p:nvSpPr>
        <p:spPr>
          <a:xfrm>
            <a:off x="9674225" y="2800945"/>
            <a:ext cx="1695450" cy="1911350"/>
          </a:xfrm>
          <a:prstGeom prst="roundRect">
            <a:avLst>
              <a:gd name="adj" fmla="val 3184"/>
            </a:avLst>
          </a:prstGeom>
          <a:solidFill>
            <a:srgbClr val="F1EFE8"/>
          </a:solidFill>
          <a:ln w="19050">
            <a:solidFill>
              <a:srgbClr val="444441"/>
            </a:solidFill>
            <a:prstDash val="solid"/>
          </a:ln>
        </p:spPr>
      </p:sp>
      <p:sp>
        <p:nvSpPr>
          <p:cNvPr id="26" name="Text 24"/>
          <p:cNvSpPr/>
          <p:nvPr/>
        </p:nvSpPr>
        <p:spPr>
          <a:xfrm>
            <a:off x="9810750" y="2937470"/>
            <a:ext cx="14732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44441"/>
                </a:solidFill>
                <a:latin typeface="IBM Plex Sans" pitchFamily="34" charset="0"/>
                <a:ea typeface="IBM Plex Sans" pitchFamily="34" charset="-122"/>
                <a:cs typeface="IBM Plex Sans" pitchFamily="34" charset="-120"/>
              </a:rPr>
              <a:t>Composed decision</a:t>
            </a:r>
            <a:endParaRPr lang="en-US" sz="1200" dirty="0"/>
          </a:p>
        </p:txBody>
      </p:sp>
      <p:sp>
        <p:nvSpPr>
          <p:cNvPr id="27" name="Text 25"/>
          <p:cNvSpPr/>
          <p:nvPr/>
        </p:nvSpPr>
        <p:spPr>
          <a:xfrm>
            <a:off x="9810750" y="3178770"/>
            <a:ext cx="1473200"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4441"/>
                </a:solidFill>
                <a:latin typeface="IBM Plex Sans" pitchFamily="34" charset="0"/>
                <a:ea typeface="IBM Plex Sans" pitchFamily="34" charset="-122"/>
                <a:cs typeface="IBM Plex Sans" pitchFamily="34" charset="-120"/>
              </a:rPr>
              <a:t>Permit only if both permit. Step-up goes back through the STS.</a:t>
            </a:r>
            <a:endParaRPr lang="en-US" sz="1200" dirty="0"/>
          </a:p>
        </p:txBody>
      </p:sp>
      <p:pic>
        <p:nvPicPr>
          <p:cNvPr id="28" name="Image 0" descr="connector">    </p:cNvPr>
          <p:cNvPicPr>
            <a:picLocks noChangeAspect="1"/>
          </p:cNvPicPr>
          <p:nvPr/>
        </p:nvPicPr>
        <p:blipFill>
          <a:blip r:embed="rId1"/>
          <a:srcRect l="0" r="0" t="0" b="0"/>
          <a:stretch/>
        </p:blipFill>
        <p:spPr>
          <a:xfrm>
            <a:off x="2349500" y="3705820"/>
            <a:ext cx="520700" cy="101600"/>
          </a:xfrm>
          <a:prstGeom prst="rect">
            <a:avLst/>
          </a:prstGeom>
        </p:spPr>
      </p:pic>
      <p:pic>
        <p:nvPicPr>
          <p:cNvPr id="29" name="Image 1" descr="connector">    </p:cNvPr>
          <p:cNvPicPr>
            <a:picLocks noChangeAspect="1"/>
          </p:cNvPicPr>
          <p:nvPr/>
        </p:nvPicPr>
        <p:blipFill>
          <a:blip r:embed="rId2"/>
          <a:srcRect l="0" r="0" t="0" b="0"/>
          <a:stretch/>
        </p:blipFill>
        <p:spPr>
          <a:xfrm>
            <a:off x="4292600" y="3705820"/>
            <a:ext cx="520700" cy="101600"/>
          </a:xfrm>
          <a:prstGeom prst="rect">
            <a:avLst/>
          </a:prstGeom>
        </p:spPr>
      </p:pic>
      <p:pic>
        <p:nvPicPr>
          <p:cNvPr id="30" name="Image 2" descr="connector">    </p:cNvPr>
          <p:cNvPicPr>
            <a:picLocks noChangeAspect="1"/>
          </p:cNvPicPr>
          <p:nvPr/>
        </p:nvPicPr>
        <p:blipFill>
          <a:blip r:embed="rId3"/>
          <a:srcRect l="0" r="0" t="0" b="0"/>
          <a:stretch/>
        </p:blipFill>
        <p:spPr>
          <a:xfrm>
            <a:off x="6616700" y="3172420"/>
            <a:ext cx="520700" cy="101600"/>
          </a:xfrm>
          <a:prstGeom prst="rect">
            <a:avLst/>
          </a:prstGeom>
        </p:spPr>
      </p:pic>
      <p:pic>
        <p:nvPicPr>
          <p:cNvPr id="31" name="Image 3" descr="connector">    </p:cNvPr>
          <p:cNvPicPr>
            <a:picLocks noChangeAspect="1"/>
          </p:cNvPicPr>
          <p:nvPr/>
        </p:nvPicPr>
        <p:blipFill>
          <a:blip r:embed="rId4"/>
          <a:srcRect l="0" r="0" t="0" b="0"/>
          <a:stretch/>
        </p:blipFill>
        <p:spPr>
          <a:xfrm>
            <a:off x="6616700" y="4239220"/>
            <a:ext cx="520700" cy="101600"/>
          </a:xfrm>
          <a:prstGeom prst="rect">
            <a:avLst/>
          </a:prstGeom>
        </p:spPr>
      </p:pic>
      <p:pic>
        <p:nvPicPr>
          <p:cNvPr id="32" name="Image 4" descr="connector">    </p:cNvPr>
          <p:cNvPicPr>
            <a:picLocks noChangeAspect="1"/>
          </p:cNvPicPr>
          <p:nvPr/>
        </p:nvPicPr>
        <p:blipFill>
          <a:blip r:embed="rId5"/>
          <a:srcRect l="0" r="0" t="0" b="0"/>
          <a:stretch/>
        </p:blipFill>
        <p:spPr>
          <a:xfrm>
            <a:off x="8115300" y="2537420"/>
            <a:ext cx="101600" cy="304800"/>
          </a:xfrm>
          <a:prstGeom prst="rect">
            <a:avLst/>
          </a:prstGeom>
        </p:spPr>
      </p:pic>
      <p:pic>
        <p:nvPicPr>
          <p:cNvPr id="33" name="Image 5" descr="connector">    </p:cNvPr>
          <p:cNvPicPr>
            <a:picLocks noChangeAspect="1"/>
          </p:cNvPicPr>
          <p:nvPr/>
        </p:nvPicPr>
        <p:blipFill>
          <a:blip r:embed="rId6"/>
          <a:srcRect l="0" r="0" t="0" b="0"/>
          <a:stretch/>
        </p:blipFill>
        <p:spPr>
          <a:xfrm>
            <a:off x="5664200" y="4671020"/>
            <a:ext cx="1473200" cy="736600"/>
          </a:xfrm>
          <a:prstGeom prst="rect">
            <a:avLst/>
          </a:prstGeom>
        </p:spPr>
      </p:pic>
      <p:pic>
        <p:nvPicPr>
          <p:cNvPr id="34" name="Image 6" descr="connector">    </p:cNvPr>
          <p:cNvPicPr>
            <a:picLocks noChangeAspect="1"/>
          </p:cNvPicPr>
          <p:nvPr/>
        </p:nvPicPr>
        <p:blipFill>
          <a:blip r:embed="rId7"/>
          <a:srcRect l="0" r="0" t="0" b="0"/>
          <a:stretch/>
        </p:blipFill>
        <p:spPr>
          <a:xfrm>
            <a:off x="9194800" y="3172420"/>
            <a:ext cx="520700" cy="101600"/>
          </a:xfrm>
          <a:prstGeom prst="rect">
            <a:avLst/>
          </a:prstGeom>
        </p:spPr>
      </p:pic>
      <p:pic>
        <p:nvPicPr>
          <p:cNvPr id="35" name="Image 7" descr="connector">    </p:cNvPr>
          <p:cNvPicPr>
            <a:picLocks noChangeAspect="1"/>
          </p:cNvPicPr>
          <p:nvPr/>
        </p:nvPicPr>
        <p:blipFill>
          <a:blip r:embed="rId8"/>
          <a:srcRect l="0" r="0" t="0" b="0"/>
          <a:stretch/>
        </p:blipFill>
        <p:spPr>
          <a:xfrm>
            <a:off x="9194800" y="4239220"/>
            <a:ext cx="520700" cy="101600"/>
          </a:xfrm>
          <a:prstGeom prst="rect">
            <a:avLst/>
          </a:prstGeom>
        </p:spPr>
      </p:pic>
      <p:sp>
        <p:nvSpPr>
          <p:cNvPr id="36" name="Text 26"/>
          <p:cNvSpPr/>
          <p:nvPr/>
        </p:nvSpPr>
        <p:spPr>
          <a:xfrm>
            <a:off x="5765800" y="5433020"/>
            <a:ext cx="132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85041"/>
                </a:solidFill>
                <a:latin typeface="IBM Plex Sans" pitchFamily="34" charset="0"/>
                <a:ea typeface="IBM Plex Sans" pitchFamily="34" charset="-122"/>
                <a:cs typeface="IBM Plex Sans" pitchFamily="34" charset="-120"/>
              </a:rPr>
              <a:t>attribute lookup</a:t>
            </a:r>
            <a:endParaRPr lang="en-US" sz="1200" dirty="0"/>
          </a:p>
        </p:txBody>
      </p:sp>
      <p:sp>
        <p:nvSpPr>
          <p:cNvPr id="37" name="Text 2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5FA5"/>
                </a:solidFill>
                <a:latin typeface="IBM Plex Mono" pitchFamily="49" charset="0"/>
                <a:ea typeface="IBM Plex Mono" pitchFamily="49" charset="-122"/>
                <a:cs typeface="IBM Plex Mono" pitchFamily="49" charset="-120"/>
              </a:rPr>
              <a:t>■ Enterprise ICAM</a:t>
            </a:r>
            <a:r>
              <a:rPr lang="en-US" sz="1200" dirty="0">
                <a:solidFill>
                  <a:srgbClr val="6B6A64"/>
                </a:solidFill>
                <a:latin typeface="IBM Plex Mono" pitchFamily="49" charset="0"/>
                <a:ea typeface="IBM Plex Mono" pitchFamily="49" charset="-122"/>
                <a:cs typeface="IBM Plex Mono" pitchFamily="49" charset="-120"/>
              </a:rPr>
              <a:t> </a:t>
            </a:r>
            <a:r>
              <a:rPr lang="en-US" sz="1200" dirty="0">
                <a:solidFill>
                  <a:srgbClr val="534AB7"/>
                </a:solidFill>
                <a:latin typeface="IBM Plex Mono" pitchFamily="49" charset="0"/>
                <a:ea typeface="IBM Plex Mono" pitchFamily="49" charset="-122"/>
                <a:cs typeface="IBM Plex Mono" pitchFamily="49" charset="-120"/>
              </a:rPr>
              <a:t>■ Platform</a:t>
            </a:r>
            <a:r>
              <a:rPr lang="en-US" sz="1200" dirty="0">
                <a:solidFill>
                  <a:srgbClr val="6B6A64"/>
                </a:solidFill>
                <a:latin typeface="IBM Plex Mono" pitchFamily="49" charset="0"/>
                <a:ea typeface="IBM Plex Mono" pitchFamily="49" charset="-122"/>
                <a:cs typeface="IBM Plex Mono" pitchFamily="49" charset="-120"/>
              </a:rPr>
              <a:t> </a:t>
            </a:r>
            <a:r>
              <a:rPr lang="en-US" sz="1200" dirty="0">
                <a:solidFill>
                  <a:srgbClr val="0F6E56"/>
                </a:solidFill>
                <a:latin typeface="IBM Plex Mono" pitchFamily="49" charset="0"/>
                <a:ea typeface="IBM Plex Mono" pitchFamily="49" charset="-122"/>
                <a:cs typeface="IBM Plex Mono" pitchFamily="49" charset="-120"/>
              </a:rPr>
              <a:t>■ Mission</a:t>
            </a:r>
            <a:r>
              <a:rPr lang="en-US" sz="1200" dirty="0">
                <a:solidFill>
                  <a:srgbClr val="6B6A64"/>
                </a:solidFill>
                <a:latin typeface="IBM Plex Mono" pitchFamily="49" charset="0"/>
                <a:ea typeface="IBM Plex Mono" pitchFamily="49" charset="-122"/>
                <a:cs typeface="IBM Plex Mono" pitchFamily="49" charset="-120"/>
              </a:rPr>
              <a:t> </a:t>
            </a:r>
            <a:r>
              <a:rPr lang="en-US" sz="1200" dirty="0">
                <a:solidFill>
                  <a:srgbClr val="5F5E5A"/>
                </a:solidFill>
                <a:latin typeface="IBM Plex Mono" pitchFamily="49" charset="0"/>
                <a:ea typeface="IBM Plex Mono" pitchFamily="49" charset="-122"/>
                <a:cs typeface="IBM Plex Mono" pitchFamily="49" charset="-120"/>
              </a:rPr>
              <a:t>■ Neutral</a:t>
            </a:r>
            <a:endParaRPr lang="en-US" sz="1200" dirty="0"/>
          </a:p>
        </p:txBody>
      </p:sp>
      <p:sp>
        <p:nvSpPr>
          <p:cNvPr id="38"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09 / 32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ARCHITECTURE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How a request is decided</a:t>
            </a:r>
            <a:endParaRPr lang="en-US" sz="3000" dirty="0"/>
          </a:p>
        </p:txBody>
      </p:sp>
      <p:sp>
        <p:nvSpPr>
          <p:cNvPr id="4" name="Shape 2"/>
          <p:cNvSpPr/>
          <p:nvPr/>
        </p:nvSpPr>
        <p:spPr>
          <a:xfrm>
            <a:off x="815975" y="1778595"/>
            <a:ext cx="2520950" cy="1532781"/>
          </a:xfrm>
          <a:prstGeom prst="roundRect">
            <a:avLst>
              <a:gd name="adj" fmla="val 4764"/>
            </a:avLst>
          </a:prstGeom>
          <a:solidFill>
            <a:srgbClr val="FDFCFA"/>
          </a:solidFill>
          <a:ln w="6350">
            <a:solidFill>
              <a:srgbClr val="DEDBD2"/>
            </a:solidFill>
            <a:prstDash val="solid"/>
          </a:ln>
        </p:spPr>
      </p:sp>
      <p:sp>
        <p:nvSpPr>
          <p:cNvPr id="5" name="Text 3"/>
          <p:cNvSpPr/>
          <p:nvPr/>
        </p:nvSpPr>
        <p:spPr>
          <a:xfrm>
            <a:off x="9969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01 · ENTERPRISE</a:t>
            </a:r>
            <a:endParaRPr lang="en-US" sz="1200" dirty="0"/>
          </a:p>
        </p:txBody>
      </p:sp>
      <p:sp>
        <p:nvSpPr>
          <p:cNvPr id="6" name="Text 4"/>
          <p:cNvSpPr/>
          <p:nvPr/>
        </p:nvSpPr>
        <p:spPr>
          <a:xfrm>
            <a:off x="996950" y="2236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Authenticate</a:t>
            </a:r>
            <a:endParaRPr lang="en-US" sz="1400" dirty="0"/>
          </a:p>
        </p:txBody>
      </p:sp>
      <p:sp>
        <p:nvSpPr>
          <p:cNvPr id="7" name="Text 5"/>
          <p:cNvSpPr/>
          <p:nvPr/>
        </p:nvSpPr>
        <p:spPr>
          <a:xfrm>
            <a:off x="996950" y="2513211"/>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Sign in with MFA. The STS issues a short-lived token with assurance level.</a:t>
            </a:r>
            <a:endParaRPr lang="en-US" sz="1200" dirty="0"/>
          </a:p>
        </p:txBody>
      </p:sp>
      <p:sp>
        <p:nvSpPr>
          <p:cNvPr id="8" name="Shape 6"/>
          <p:cNvSpPr/>
          <p:nvPr/>
        </p:nvSpPr>
        <p:spPr>
          <a:xfrm>
            <a:off x="3495675" y="1778595"/>
            <a:ext cx="2520950" cy="1532781"/>
          </a:xfrm>
          <a:prstGeom prst="roundRect">
            <a:avLst>
              <a:gd name="adj" fmla="val 4764"/>
            </a:avLst>
          </a:prstGeom>
          <a:solidFill>
            <a:srgbClr val="FDFCFA"/>
          </a:solidFill>
          <a:ln w="6350">
            <a:solidFill>
              <a:srgbClr val="DEDBD2"/>
            </a:solidFill>
            <a:prstDash val="solid"/>
          </a:ln>
        </p:spPr>
      </p:sp>
      <p:sp>
        <p:nvSpPr>
          <p:cNvPr id="9" name="Text 7"/>
          <p:cNvSpPr/>
          <p:nvPr/>
        </p:nvSpPr>
        <p:spPr>
          <a:xfrm>
            <a:off x="36766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5E5A"/>
                </a:solidFill>
                <a:latin typeface="IBM Plex Mono" pitchFamily="49" charset="0"/>
                <a:ea typeface="IBM Plex Mono" pitchFamily="49" charset="-122"/>
                <a:cs typeface="IBM Plex Mono" pitchFamily="49" charset="-120"/>
              </a:rPr>
              <a:t>02 · APPLICATION</a:t>
            </a:r>
            <a:endParaRPr lang="en-US" sz="1200" dirty="0"/>
          </a:p>
        </p:txBody>
      </p:sp>
      <p:sp>
        <p:nvSpPr>
          <p:cNvPr id="10" name="Text 8"/>
          <p:cNvSpPr/>
          <p:nvPr/>
        </p:nvSpPr>
        <p:spPr>
          <a:xfrm>
            <a:off x="3676650" y="2236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Forward</a:t>
            </a:r>
            <a:endParaRPr lang="en-US" sz="1400" dirty="0"/>
          </a:p>
        </p:txBody>
      </p:sp>
      <p:sp>
        <p:nvSpPr>
          <p:cNvPr id="11" name="Text 9"/>
          <p:cNvSpPr/>
          <p:nvPr/>
        </p:nvSpPr>
        <p:spPr>
          <a:xfrm>
            <a:off x="3676650" y="2513211"/>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The app passes the request and token to Tyk, with no auth logic of its own.</a:t>
            </a:r>
            <a:endParaRPr lang="en-US" sz="1200" dirty="0"/>
          </a:p>
        </p:txBody>
      </p:sp>
      <p:sp>
        <p:nvSpPr>
          <p:cNvPr id="12" name="Shape 10"/>
          <p:cNvSpPr/>
          <p:nvPr/>
        </p:nvSpPr>
        <p:spPr>
          <a:xfrm>
            <a:off x="6175375" y="1778595"/>
            <a:ext cx="2520950" cy="1532781"/>
          </a:xfrm>
          <a:prstGeom prst="roundRect">
            <a:avLst>
              <a:gd name="adj" fmla="val 4764"/>
            </a:avLst>
          </a:prstGeom>
          <a:solidFill>
            <a:srgbClr val="FDFCFA"/>
          </a:solidFill>
          <a:ln w="6350">
            <a:solidFill>
              <a:srgbClr val="DEDBD2"/>
            </a:solidFill>
            <a:prstDash val="solid"/>
          </a:ln>
        </p:spPr>
      </p:sp>
      <p:sp>
        <p:nvSpPr>
          <p:cNvPr id="13" name="Text 11"/>
          <p:cNvSpPr/>
          <p:nvPr/>
        </p:nvSpPr>
        <p:spPr>
          <a:xfrm>
            <a:off x="63563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03 · PLATFORM</a:t>
            </a:r>
            <a:endParaRPr lang="en-US" sz="1200" dirty="0"/>
          </a:p>
        </p:txBody>
      </p:sp>
      <p:sp>
        <p:nvSpPr>
          <p:cNvPr id="14" name="Text 12"/>
          <p:cNvSpPr/>
          <p:nvPr/>
        </p:nvSpPr>
        <p:spPr>
          <a:xfrm>
            <a:off x="6356350" y="2236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Validate</a:t>
            </a:r>
            <a:endParaRPr lang="en-US" sz="1400" dirty="0"/>
          </a:p>
        </p:txBody>
      </p:sp>
      <p:sp>
        <p:nvSpPr>
          <p:cNvPr id="15" name="Text 13"/>
          <p:cNvSpPr/>
          <p:nvPr/>
        </p:nvSpPr>
        <p:spPr>
          <a:xfrm>
            <a:off x="6356350" y="2513211"/>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Tyk checks STS signing keys, audience, and expiry, replacing the auth proxy.</a:t>
            </a:r>
            <a:endParaRPr lang="en-US" sz="1200" dirty="0"/>
          </a:p>
        </p:txBody>
      </p:sp>
      <p:sp>
        <p:nvSpPr>
          <p:cNvPr id="16" name="Shape 14"/>
          <p:cNvSpPr/>
          <p:nvPr/>
        </p:nvSpPr>
        <p:spPr>
          <a:xfrm>
            <a:off x="8855075" y="1778595"/>
            <a:ext cx="2520950" cy="1532781"/>
          </a:xfrm>
          <a:prstGeom prst="roundRect">
            <a:avLst>
              <a:gd name="adj" fmla="val 4764"/>
            </a:avLst>
          </a:prstGeom>
          <a:solidFill>
            <a:srgbClr val="FDFCFA"/>
          </a:solidFill>
          <a:ln w="6350">
            <a:solidFill>
              <a:srgbClr val="DEDBD2"/>
            </a:solidFill>
            <a:prstDash val="solid"/>
          </a:ln>
        </p:spPr>
      </p:sp>
      <p:sp>
        <p:nvSpPr>
          <p:cNvPr id="17" name="Text 15"/>
          <p:cNvSpPr/>
          <p:nvPr/>
        </p:nvSpPr>
        <p:spPr>
          <a:xfrm>
            <a:off x="90360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04 · PLATFORM</a:t>
            </a:r>
            <a:endParaRPr lang="en-US" sz="1200" dirty="0"/>
          </a:p>
        </p:txBody>
      </p:sp>
      <p:sp>
        <p:nvSpPr>
          <p:cNvPr id="18" name="Text 16"/>
          <p:cNvSpPr/>
          <p:nvPr/>
        </p:nvSpPr>
        <p:spPr>
          <a:xfrm>
            <a:off x="9036050" y="22363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Ask</a:t>
            </a:r>
            <a:endParaRPr lang="en-US" sz="1400" dirty="0"/>
          </a:p>
        </p:txBody>
      </p:sp>
      <p:sp>
        <p:nvSpPr>
          <p:cNvPr id="19" name="Text 17"/>
          <p:cNvSpPr/>
          <p:nvPr/>
        </p:nvSpPr>
        <p:spPr>
          <a:xfrm>
            <a:off x="9036050" y="2513211"/>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Tyk builds one AuthZEN request: subject, action, resource, context.</a:t>
            </a:r>
            <a:endParaRPr lang="en-US" sz="1200" dirty="0"/>
          </a:p>
        </p:txBody>
      </p:sp>
      <p:sp>
        <p:nvSpPr>
          <p:cNvPr id="20" name="Shape 18"/>
          <p:cNvSpPr/>
          <p:nvPr/>
        </p:nvSpPr>
        <p:spPr>
          <a:xfrm>
            <a:off x="815975" y="3470126"/>
            <a:ext cx="2520950" cy="1545481"/>
          </a:xfrm>
          <a:prstGeom prst="roundRect">
            <a:avLst>
              <a:gd name="adj" fmla="val 4725"/>
            </a:avLst>
          </a:prstGeom>
          <a:solidFill>
            <a:srgbClr val="FDFCFA"/>
          </a:solidFill>
          <a:ln w="6350">
            <a:solidFill>
              <a:srgbClr val="DEDBD2"/>
            </a:solidFill>
            <a:prstDash val="solid"/>
          </a:ln>
        </p:spPr>
      </p:sp>
      <p:sp>
        <p:nvSpPr>
          <p:cNvPr id="21" name="Text 19"/>
          <p:cNvSpPr/>
          <p:nvPr/>
        </p:nvSpPr>
        <p:spPr>
          <a:xfrm>
            <a:off x="996950" y="365110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05 · ENTERPRISE</a:t>
            </a:r>
            <a:endParaRPr lang="en-US" sz="1200" dirty="0"/>
          </a:p>
        </p:txBody>
      </p:sp>
      <p:sp>
        <p:nvSpPr>
          <p:cNvPr id="22" name="Text 20"/>
          <p:cNvSpPr/>
          <p:nvPr/>
        </p:nvSpPr>
        <p:spPr>
          <a:xfrm>
            <a:off x="996950" y="392792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Decide first</a:t>
            </a:r>
            <a:endParaRPr lang="en-US" sz="1400" dirty="0"/>
          </a:p>
        </p:txBody>
      </p:sp>
      <p:sp>
        <p:nvSpPr>
          <p:cNvPr id="23" name="Text 21"/>
          <p:cNvSpPr/>
          <p:nvPr/>
        </p:nvSpPr>
        <p:spPr>
          <a:xfrm>
            <a:off x="996950" y="4204742"/>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The enterprise PDP evaluates first. A deny ends the request here.</a:t>
            </a:r>
            <a:endParaRPr lang="en-US" sz="1200" dirty="0"/>
          </a:p>
        </p:txBody>
      </p:sp>
      <p:sp>
        <p:nvSpPr>
          <p:cNvPr id="24" name="Shape 22"/>
          <p:cNvSpPr/>
          <p:nvPr/>
        </p:nvSpPr>
        <p:spPr>
          <a:xfrm>
            <a:off x="3495675" y="3470126"/>
            <a:ext cx="2520950" cy="1545481"/>
          </a:xfrm>
          <a:prstGeom prst="roundRect">
            <a:avLst>
              <a:gd name="adj" fmla="val 4725"/>
            </a:avLst>
          </a:prstGeom>
          <a:solidFill>
            <a:srgbClr val="FDFCFA"/>
          </a:solidFill>
          <a:ln w="6350">
            <a:solidFill>
              <a:srgbClr val="DEDBD2"/>
            </a:solidFill>
            <a:prstDash val="solid"/>
          </a:ln>
        </p:spPr>
      </p:sp>
      <p:sp>
        <p:nvSpPr>
          <p:cNvPr id="25" name="Text 23"/>
          <p:cNvSpPr/>
          <p:nvPr/>
        </p:nvSpPr>
        <p:spPr>
          <a:xfrm>
            <a:off x="3676650" y="365110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BM Plex Mono" pitchFamily="49" charset="0"/>
                <a:ea typeface="IBM Plex Mono" pitchFamily="49" charset="-122"/>
                <a:cs typeface="IBM Plex Mono" pitchFamily="49" charset="-120"/>
              </a:rPr>
              <a:t>06 · MISSION</a:t>
            </a:r>
            <a:endParaRPr lang="en-US" sz="1200" dirty="0"/>
          </a:p>
        </p:txBody>
      </p:sp>
      <p:sp>
        <p:nvSpPr>
          <p:cNvPr id="26" name="Text 24"/>
          <p:cNvSpPr/>
          <p:nvPr/>
        </p:nvSpPr>
        <p:spPr>
          <a:xfrm>
            <a:off x="3676650" y="392792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Refine</a:t>
            </a:r>
            <a:endParaRPr lang="en-US" sz="1400" dirty="0"/>
          </a:p>
        </p:txBody>
      </p:sp>
      <p:sp>
        <p:nvSpPr>
          <p:cNvPr id="27" name="Text 25"/>
          <p:cNvSpPr/>
          <p:nvPr/>
        </p:nvSpPr>
        <p:spPr>
          <a:xfrm>
            <a:off x="3676650" y="4204742"/>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On permit, Cerbos applies mission, position, workflow, and assurance rules.</a:t>
            </a:r>
            <a:endParaRPr lang="en-US" sz="1200" dirty="0"/>
          </a:p>
        </p:txBody>
      </p:sp>
      <p:sp>
        <p:nvSpPr>
          <p:cNvPr id="28" name="Shape 26"/>
          <p:cNvSpPr/>
          <p:nvPr/>
        </p:nvSpPr>
        <p:spPr>
          <a:xfrm>
            <a:off x="6175375" y="3470126"/>
            <a:ext cx="2520950" cy="1545481"/>
          </a:xfrm>
          <a:prstGeom prst="roundRect">
            <a:avLst>
              <a:gd name="adj" fmla="val 4725"/>
            </a:avLst>
          </a:prstGeom>
          <a:solidFill>
            <a:srgbClr val="FDFCFA"/>
          </a:solidFill>
          <a:ln w="6350">
            <a:solidFill>
              <a:srgbClr val="DEDBD2"/>
            </a:solidFill>
            <a:prstDash val="solid"/>
          </a:ln>
        </p:spPr>
      </p:sp>
      <p:sp>
        <p:nvSpPr>
          <p:cNvPr id="29" name="Text 27"/>
          <p:cNvSpPr/>
          <p:nvPr/>
        </p:nvSpPr>
        <p:spPr>
          <a:xfrm>
            <a:off x="6356350" y="365110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07 · PLATFORM</a:t>
            </a:r>
            <a:endParaRPr lang="en-US" sz="1200" dirty="0"/>
          </a:p>
        </p:txBody>
      </p:sp>
      <p:sp>
        <p:nvSpPr>
          <p:cNvPr id="30" name="Text 28"/>
          <p:cNvSpPr/>
          <p:nvPr/>
        </p:nvSpPr>
        <p:spPr>
          <a:xfrm>
            <a:off x="6356350" y="392792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Compose and log</a:t>
            </a:r>
            <a:endParaRPr lang="en-US" sz="1400" dirty="0"/>
          </a:p>
        </p:txBody>
      </p:sp>
      <p:sp>
        <p:nvSpPr>
          <p:cNvPr id="31" name="Text 29"/>
          <p:cNvSpPr/>
          <p:nvPr/>
        </p:nvSpPr>
        <p:spPr>
          <a:xfrm>
            <a:off x="6356350" y="4204742"/>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Permit only if both permit. Both verdicts logged under one correlation ID.</a:t>
            </a:r>
            <a:endParaRPr lang="en-US" sz="1200" dirty="0"/>
          </a:p>
        </p:txBody>
      </p:sp>
      <p:sp>
        <p:nvSpPr>
          <p:cNvPr id="32" name="Shape 30"/>
          <p:cNvSpPr/>
          <p:nvPr/>
        </p:nvSpPr>
        <p:spPr>
          <a:xfrm>
            <a:off x="8858250" y="3473301"/>
            <a:ext cx="2514600" cy="1539131"/>
          </a:xfrm>
          <a:prstGeom prst="roundRect">
            <a:avLst>
              <a:gd name="adj" fmla="val 4538"/>
            </a:avLst>
          </a:prstGeom>
          <a:solidFill>
            <a:srgbClr val="E6F1FB"/>
          </a:solidFill>
          <a:ln w="12700">
            <a:solidFill>
              <a:srgbClr val="185FA5"/>
            </a:solidFill>
            <a:prstDash val="dash"/>
          </a:ln>
        </p:spPr>
      </p:sp>
      <p:sp>
        <p:nvSpPr>
          <p:cNvPr id="33" name="Text 31"/>
          <p:cNvSpPr/>
          <p:nvPr/>
        </p:nvSpPr>
        <p:spPr>
          <a:xfrm>
            <a:off x="9042400" y="3657451"/>
            <a:ext cx="22106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BRANCH · STEP-UP</a:t>
            </a:r>
            <a:endParaRPr lang="en-US" sz="1200" dirty="0"/>
          </a:p>
        </p:txBody>
      </p:sp>
      <p:sp>
        <p:nvSpPr>
          <p:cNvPr id="34" name="Text 32"/>
          <p:cNvSpPr/>
          <p:nvPr/>
        </p:nvSpPr>
        <p:spPr>
          <a:xfrm>
            <a:off x="9042400" y="3934271"/>
            <a:ext cx="22106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C447C"/>
                </a:solidFill>
                <a:latin typeface="IBM Plex Sans" pitchFamily="34" charset="0"/>
                <a:ea typeface="IBM Plex Sans" pitchFamily="34" charset="-122"/>
                <a:cs typeface="IBM Plex Sans" pitchFamily="34" charset="-120"/>
              </a:rPr>
              <a:t>Prove more</a:t>
            </a:r>
            <a:endParaRPr lang="en-US" sz="1400" dirty="0"/>
          </a:p>
        </p:txBody>
      </p:sp>
      <p:sp>
        <p:nvSpPr>
          <p:cNvPr id="35" name="Text 33"/>
          <p:cNvSpPr/>
          <p:nvPr/>
        </p:nvSpPr>
        <p:spPr>
          <a:xfrm>
            <a:off x="9042400" y="4211092"/>
            <a:ext cx="2210689"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447C"/>
                </a:solidFill>
                <a:latin typeface="IBM Plex Sans" pitchFamily="34" charset="0"/>
                <a:ea typeface="IBM Plex Sans" pitchFamily="34" charset="-122"/>
                <a:cs typeface="IBM Plex Sans" pitchFamily="34" charset="-120"/>
              </a:rPr>
              <a:t>A step-up result sends the user back to the STS. The retry re-enters at 03.</a:t>
            </a:r>
            <a:endParaRPr lang="en-US" sz="1200" dirty="0"/>
          </a:p>
        </p:txBody>
      </p:sp>
      <p:sp>
        <p:nvSpPr>
          <p:cNvPr id="36" name="Text 3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10 / 32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ARCHITECTURE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Authentication strength becomes a policy input</a:t>
            </a:r>
            <a:endParaRPr lang="en-US" sz="3000" dirty="0"/>
          </a:p>
        </p:txBody>
      </p:sp>
      <p:sp>
        <p:nvSpPr>
          <p:cNvPr id="4" name="Shape 2"/>
          <p:cNvSpPr/>
          <p:nvPr/>
        </p:nvSpPr>
        <p:spPr>
          <a:xfrm>
            <a:off x="815975" y="1778595"/>
            <a:ext cx="5175250" cy="2551212"/>
          </a:xfrm>
          <a:prstGeom prst="roundRect">
            <a:avLst>
              <a:gd name="adj" fmla="val 2862"/>
            </a:avLst>
          </a:prstGeom>
          <a:solidFill>
            <a:srgbClr val="FDFCFA"/>
          </a:solidFill>
          <a:ln w="6350">
            <a:solidFill>
              <a:srgbClr val="DEDBD2"/>
            </a:solidFill>
            <a:prstDash val="solid"/>
          </a:ln>
        </p:spPr>
      </p:sp>
      <p:sp>
        <p:nvSpPr>
          <p:cNvPr id="5" name="Text 3"/>
          <p:cNvSpPr/>
          <p:nvPr/>
        </p:nvSpPr>
        <p:spPr>
          <a:xfrm>
            <a:off x="1047750" y="2010370"/>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PEOPLE</a:t>
            </a:r>
            <a:endParaRPr lang="en-US" sz="1200" dirty="0"/>
          </a:p>
        </p:txBody>
      </p:sp>
      <p:sp>
        <p:nvSpPr>
          <p:cNvPr id="6" name="Text 4"/>
          <p:cNvSpPr/>
          <p:nvPr/>
        </p:nvSpPr>
        <p:spPr>
          <a:xfrm>
            <a:off x="1047750" y="2350691"/>
            <a:ext cx="48530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Step-up for sensitive actions</a:t>
            </a:r>
            <a:endParaRPr lang="en-US" sz="1600" dirty="0"/>
          </a:p>
        </p:txBody>
      </p:sp>
      <p:sp>
        <p:nvSpPr>
          <p:cNvPr id="7" name="Text 5"/>
          <p:cNvSpPr/>
          <p:nvPr/>
        </p:nvSpPr>
        <p:spPr>
          <a:xfrm>
            <a:off x="1047750" y="2721521"/>
            <a:ext cx="3302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5FA5"/>
                </a:solidFill>
                <a:latin typeface="IBM Plex Mono" pitchFamily="49" charset="0"/>
                <a:ea typeface="IBM Plex Mono" pitchFamily="49" charset="-122"/>
                <a:cs typeface="IBM Plex Mono" pitchFamily="49" charset="-120"/>
              </a:rPr>
              <a:t>1</a:t>
            </a:r>
            <a:endParaRPr lang="en-US" sz="1300" dirty="0"/>
          </a:p>
        </p:txBody>
      </p:sp>
      <p:sp>
        <p:nvSpPr>
          <p:cNvPr id="8" name="Text 6"/>
          <p:cNvSpPr/>
          <p:nvPr/>
        </p:nvSpPr>
        <p:spPr>
          <a:xfrm>
            <a:off x="1454150" y="2721521"/>
            <a:ext cx="4434459" cy="25653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44B"/>
                </a:solidFill>
                <a:latin typeface="IBM Plex Sans" pitchFamily="34" charset="0"/>
                <a:ea typeface="IBM Plex Sans" pitchFamily="34" charset="-122"/>
                <a:cs typeface="IBM Plex Sans" pitchFamily="34" charset="-120"/>
              </a:rPr>
              <a:t>Routine actions rely on the session's original MFA.</a:t>
            </a:r>
            <a:endParaRPr lang="en-US" sz="1300" dirty="0"/>
          </a:p>
        </p:txBody>
      </p:sp>
      <p:sp>
        <p:nvSpPr>
          <p:cNvPr id="9" name="Text 7"/>
          <p:cNvSpPr/>
          <p:nvPr/>
        </p:nvSpPr>
        <p:spPr>
          <a:xfrm>
            <a:off x="1047750" y="3079651"/>
            <a:ext cx="330200" cy="47109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5FA5"/>
                </a:solidFill>
                <a:latin typeface="IBM Plex Mono" pitchFamily="49" charset="0"/>
                <a:ea typeface="IBM Plex Mono" pitchFamily="49" charset="-122"/>
                <a:cs typeface="IBM Plex Mono" pitchFamily="49" charset="-120"/>
              </a:rPr>
              <a:t>2</a:t>
            </a:r>
            <a:endParaRPr lang="en-US" sz="1300" dirty="0"/>
          </a:p>
        </p:txBody>
      </p:sp>
      <p:sp>
        <p:nvSpPr>
          <p:cNvPr id="10" name="Text 8"/>
          <p:cNvSpPr/>
          <p:nvPr/>
        </p:nvSpPr>
        <p:spPr>
          <a:xfrm>
            <a:off x="1454150" y="3079651"/>
            <a:ext cx="443445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44B"/>
                </a:solidFill>
                <a:latin typeface="IBM Plex Sans" pitchFamily="34" charset="0"/>
                <a:ea typeface="IBM Plex Sans" pitchFamily="34" charset="-122"/>
                <a:cs typeface="IBM Plex Sans" pitchFamily="34" charset="-120"/>
              </a:rPr>
              <a:t>Release or export can require fresh, phishing-resistant proof. The PDP returns a step-up reason.</a:t>
            </a:r>
            <a:endParaRPr lang="en-US" sz="1300" dirty="0"/>
          </a:p>
        </p:txBody>
      </p:sp>
      <p:sp>
        <p:nvSpPr>
          <p:cNvPr id="11" name="Text 9"/>
          <p:cNvSpPr/>
          <p:nvPr/>
        </p:nvSpPr>
        <p:spPr>
          <a:xfrm>
            <a:off x="1047750" y="3652341"/>
            <a:ext cx="330200" cy="47109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85FA5"/>
                </a:solidFill>
                <a:latin typeface="IBM Plex Mono" pitchFamily="49" charset="0"/>
                <a:ea typeface="IBM Plex Mono" pitchFamily="49" charset="-122"/>
                <a:cs typeface="IBM Plex Mono" pitchFamily="49" charset="-120"/>
              </a:rPr>
              <a:t>3</a:t>
            </a:r>
            <a:endParaRPr lang="en-US" sz="1300" dirty="0"/>
          </a:p>
        </p:txBody>
      </p:sp>
      <p:sp>
        <p:nvSpPr>
          <p:cNvPr id="12" name="Text 10"/>
          <p:cNvSpPr/>
          <p:nvPr/>
        </p:nvSpPr>
        <p:spPr>
          <a:xfrm>
            <a:off x="1454150" y="3652341"/>
            <a:ext cx="443445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44B"/>
                </a:solidFill>
                <a:latin typeface="IBM Plex Sans" pitchFamily="34" charset="0"/>
                <a:ea typeface="IBM Plex Sans" pitchFamily="34" charset="-122"/>
                <a:cs typeface="IBM Plex Sans" pitchFamily="34" charset="-120"/>
              </a:rPr>
              <a:t>The app sends the user back through the enterprise STS, and the retry succeeds.</a:t>
            </a:r>
            <a:endParaRPr lang="en-US" sz="1300" dirty="0"/>
          </a:p>
        </p:txBody>
      </p:sp>
      <p:sp>
        <p:nvSpPr>
          <p:cNvPr id="13" name="Shape 11"/>
          <p:cNvSpPr/>
          <p:nvPr/>
        </p:nvSpPr>
        <p:spPr>
          <a:xfrm>
            <a:off x="6200775" y="1778595"/>
            <a:ext cx="5175250" cy="2551212"/>
          </a:xfrm>
          <a:prstGeom prst="roundRect">
            <a:avLst>
              <a:gd name="adj" fmla="val 2862"/>
            </a:avLst>
          </a:prstGeom>
          <a:solidFill>
            <a:srgbClr val="FDFCFA"/>
          </a:solidFill>
          <a:ln w="6350">
            <a:solidFill>
              <a:srgbClr val="DEDBD2"/>
            </a:solidFill>
            <a:prstDash val="solid"/>
          </a:ln>
        </p:spPr>
      </p:sp>
      <p:sp>
        <p:nvSpPr>
          <p:cNvPr id="14" name="Text 12"/>
          <p:cNvSpPr/>
          <p:nvPr/>
        </p:nvSpPr>
        <p:spPr>
          <a:xfrm>
            <a:off x="6432550" y="2010370"/>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SERVICES</a:t>
            </a:r>
            <a:endParaRPr lang="en-US" sz="1200" dirty="0"/>
          </a:p>
        </p:txBody>
      </p:sp>
      <p:sp>
        <p:nvSpPr>
          <p:cNvPr id="15" name="Text 13"/>
          <p:cNvSpPr/>
          <p:nvPr/>
        </p:nvSpPr>
        <p:spPr>
          <a:xfrm>
            <a:off x="6432550" y="2350691"/>
            <a:ext cx="48530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Token exchange (RFC 8693)</a:t>
            </a:r>
            <a:endParaRPr lang="en-US" sz="1600" dirty="0"/>
          </a:p>
        </p:txBody>
      </p:sp>
      <p:sp>
        <p:nvSpPr>
          <p:cNvPr id="16" name="Text 14"/>
          <p:cNvSpPr/>
          <p:nvPr/>
        </p:nvSpPr>
        <p:spPr>
          <a:xfrm>
            <a:off x="6432550" y="2721521"/>
            <a:ext cx="48530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44B"/>
                </a:solidFill>
                <a:latin typeface="IBM Plex Sans" pitchFamily="34" charset="0"/>
                <a:ea typeface="IBM Plex Sans" pitchFamily="34" charset="-122"/>
                <a:cs typeface="IBM Plex Sans" pitchFamily="34" charset="-120"/>
              </a:rPr>
              <a:t>Services trade a user's token for a downstream-scoped token that preserves both the user and the calling service.</a:t>
            </a:r>
            <a:endParaRPr lang="en-US" sz="1300" dirty="0"/>
          </a:p>
        </p:txBody>
      </p:sp>
      <p:sp>
        <p:nvSpPr>
          <p:cNvPr id="17" name="Text 15"/>
          <p:cNvSpPr/>
          <p:nvPr/>
        </p:nvSpPr>
        <p:spPr>
          <a:xfrm>
            <a:off x="6432550" y="3294211"/>
            <a:ext cx="48530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44B"/>
                </a:solidFill>
                <a:latin typeface="IBM Plex Sans" pitchFamily="34" charset="0"/>
                <a:ea typeface="IBM Plex Sans" pitchFamily="34" charset="-122"/>
                <a:cs typeface="IBM Plex Sans" pitchFamily="34" charset="-120"/>
              </a:rPr>
              <a:t>Both PDPs can then constrain which services act on behalf of which users, closing the confused-deputy gap common to proxy designs.</a:t>
            </a:r>
            <a:endParaRPr lang="en-US" sz="1300" dirty="0"/>
          </a:p>
        </p:txBody>
      </p:sp>
      <p:sp>
        <p:nvSpPr>
          <p:cNvPr id="18" name="Text 16"/>
          <p:cNvSpPr/>
          <p:nvPr/>
        </p:nvSpPr>
        <p:spPr>
          <a:xfrm>
            <a:off x="812800" y="4586982"/>
            <a:ext cx="10566400" cy="833041"/>
          </a:xfrm>
          <a:prstGeom prst="roundRect">
            <a:avLst>
              <a:gd name="adj" fmla="val 6098"/>
            </a:avLst>
          </a:prstGeom>
          <a:solidFill>
            <a:srgbClr val="E6F1FB"/>
          </a:solidFill>
          <a:ln/>
        </p:spPr>
        <p:txBody>
          <a:bodyPr wrap="square" lIns="239121" tIns="137521" rIns="0" bIns="112121" rtlCol="0" anchor="t">
            <a:normAutofit/>
          </a:bodyPr>
          <a:lstStyle/>
          <a:p>
            <a:pPr algn="l" indent="0" marL="0">
              <a:lnSpc>
                <a:spcPts val="2080"/>
              </a:lnSpc>
              <a:buNone/>
            </a:pPr>
            <a:r>
              <a:rPr lang="en-US" sz="1600" dirty="0">
                <a:solidFill>
                  <a:srgbClr val="14202E"/>
                </a:solidFill>
                <a:latin typeface="IBM Plex Sans" pitchFamily="34" charset="0"/>
                <a:ea typeface="IBM Plex Sans" pitchFamily="34" charset="-122"/>
                <a:cs typeface="IBM Plex Sans" pitchFamily="34" charset="-120"/>
              </a:rPr>
              <a:t>Policy decides when stronger proof is needed. The enterprise IdP remains the only component that collects it.</a:t>
            </a:r>
            <a:endParaRPr lang="en-US" sz="1600" dirty="0"/>
          </a:p>
        </p:txBody>
      </p:sp>
      <p:sp>
        <p:nvSpPr>
          <p:cNvPr id="19" name="Shape 17"/>
          <p:cNvSpPr/>
          <p:nvPr/>
        </p:nvSpPr>
        <p:spPr>
          <a:xfrm>
            <a:off x="812800" y="4586982"/>
            <a:ext cx="10566400" cy="833041"/>
          </a:xfrm>
          <a:custGeom>
            <a:avLst/>
            <a:gdLst/>
            <a:ahLst/>
            <a:cxnLst/>
            <a:rect l="l" t="t" r="r" b="b"/>
            <a:pathLst>
              <a:path w="10566400" h="833041">
                <a:moveTo>
                  <a:pt x="50800" y="833041"/>
                </a:moveTo>
                <a:lnTo>
                  <a:pt x="50800" y="833041"/>
                </a:lnTo>
                <a:arcTo hR="50800" wR="50800" stAng="5400000" swAng="5400000"/>
                <a:lnTo>
                  <a:pt x="0" y="50800"/>
                </a:lnTo>
                <a:arcTo hR="50800" wR="50800" stAng="10800000" swAng="5400000"/>
                <a:lnTo>
                  <a:pt x="50800" y="0"/>
                </a:lnTo>
                <a:lnTo>
                  <a:pt x="50800" y="833041"/>
                </a:lnTo>
                <a:close/>
              </a:path>
            </a:pathLst>
          </a:custGeom>
          <a:solidFill>
            <a:srgbClr val="185FA5"/>
          </a:solidFill>
          <a:ln/>
        </p:spPr>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11 / 32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ARCHITECTURE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Who owns each component</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3133824"/>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864320"/>
          <a:ext cx="10350500" cy="2968724"/>
        </p:xfrm>
        <a:graphic>
          <a:graphicData uri="http://schemas.openxmlformats.org/drawingml/2006/table">
            <a:tbl>
              <a:tblPr/>
              <a:tblGrid>
                <a:gridCol w="2898140"/>
                <a:gridCol w="3726180"/>
                <a:gridCol w="3726180"/>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Responsibility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STS and MFA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Enterprise 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Authenticate, issue tokens, perform step-up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PDP</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Enterprise 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Clearances, attributes of record, policy floor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Composition rule and kill switch</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ICAM approves; platform team operates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Deny-overrides; mission can only narrow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Tyk Gateway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534AB7"/>
                          </a:solidFill>
                          <a:latin typeface="IBM Plex Sans" pitchFamily="34" charset="0"/>
                          <a:ea typeface="IBM Plex Sans" pitchFamily="34" charset="-122"/>
                          <a:cs typeface="IBM Plex Sans" pitchFamily="34" charset="-120"/>
                        </a:rPr>
                        <a:t>Platform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Token validation, AuthZEN enforcement, composition, decision logging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Cerbos and mission policies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Steward policy shop authors; mission engineering implements; governance board approves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position, workflow, and step-up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Applications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5F5E5A"/>
                          </a:solidFill>
                          <a:latin typeface="IBM Plex Sans" pitchFamily="34" charset="0"/>
                          <a:ea typeface="IBM Plex Sans" pitchFamily="34" charset="-122"/>
                          <a:cs typeface="IBM Plex Sans" pitchFamily="34" charset="-120"/>
                        </a:rPr>
                        <a:t>Product teams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Present tokens, honor decisions, no embedded authorization logic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Ownership follows rate of change</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12 / 32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What enterprise ICAM gains</a:t>
            </a:r>
            <a:endParaRPr lang="en-US" sz="3000" dirty="0"/>
          </a:p>
        </p:txBody>
      </p:sp>
      <p:sp>
        <p:nvSpPr>
          <p:cNvPr id="4" name="Shape 2"/>
          <p:cNvSpPr/>
          <p:nvPr/>
        </p:nvSpPr>
        <p:spPr>
          <a:xfrm>
            <a:off x="815975" y="1778595"/>
            <a:ext cx="3414167" cy="1418530"/>
          </a:xfrm>
          <a:prstGeom prst="roundRect">
            <a:avLst>
              <a:gd name="adj" fmla="val 5148"/>
            </a:avLst>
          </a:prstGeom>
          <a:solidFill>
            <a:srgbClr val="FDFCFA"/>
          </a:solidFill>
          <a:ln w="6350">
            <a:solidFill>
              <a:srgbClr val="DEDBD2"/>
            </a:solidFill>
            <a:prstDash val="solid"/>
          </a:ln>
        </p:spPr>
      </p:sp>
      <p:pic>
        <p:nvPicPr>
          <p:cNvPr id="5" name="Image 0" descr="Trust">    </p:cNvPr>
          <p:cNvPicPr>
            <a:picLocks noChangeAspect="1"/>
          </p:cNvPicPr>
          <p:nvPr/>
        </p:nvPicPr>
        <p:blipFill>
          <a:blip r:embed="rId1"/>
          <a:srcRect l="0" r="0" t="0" b="0"/>
          <a:stretch/>
        </p:blipFill>
        <p:spPr>
          <a:xfrm>
            <a:off x="996950" y="1959570"/>
            <a:ext cx="279400" cy="279400"/>
          </a:xfrm>
          <a:prstGeom prst="rect">
            <a:avLst/>
          </a:prstGeom>
        </p:spPr>
      </p:pic>
      <p:sp>
        <p:nvSpPr>
          <p:cNvPr id="6" name="Text 3"/>
          <p:cNvSpPr/>
          <p:nvPr/>
        </p:nvSpPr>
        <p:spPr>
          <a:xfrm>
            <a:off x="996950" y="2315170"/>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Authority extended, not shared</a:t>
            </a:r>
            <a:endParaRPr lang="en-US" sz="1400" dirty="0"/>
          </a:p>
        </p:txBody>
      </p:sp>
      <p:sp>
        <p:nvSpPr>
          <p:cNvPr id="7" name="Text 4"/>
          <p:cNvSpPr/>
          <p:nvPr/>
        </p:nvSpPr>
        <p:spPr>
          <a:xfrm>
            <a:off x="996950" y="2604691"/>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The enterprise decision is evaluated first on every request and cannot be overridden.</a:t>
            </a:r>
            <a:endParaRPr lang="en-US" sz="1200" dirty="0"/>
          </a:p>
        </p:txBody>
      </p:sp>
      <p:sp>
        <p:nvSpPr>
          <p:cNvPr id="8" name="Shape 5"/>
          <p:cNvSpPr/>
          <p:nvPr/>
        </p:nvSpPr>
        <p:spPr>
          <a:xfrm>
            <a:off x="4388892" y="1778595"/>
            <a:ext cx="3414167" cy="1418530"/>
          </a:xfrm>
          <a:prstGeom prst="roundRect">
            <a:avLst>
              <a:gd name="adj" fmla="val 5148"/>
            </a:avLst>
          </a:prstGeom>
          <a:solidFill>
            <a:srgbClr val="FDFCFA"/>
          </a:solidFill>
          <a:ln w="6350">
            <a:solidFill>
              <a:srgbClr val="DEDBD2"/>
            </a:solidFill>
            <a:prstDash val="solid"/>
          </a:ln>
        </p:spPr>
      </p:sp>
      <p:pic>
        <p:nvPicPr>
          <p:cNvPr id="9" name="Image 1" descr="Verified">    </p:cNvPr>
          <p:cNvPicPr>
            <a:picLocks noChangeAspect="1"/>
          </p:cNvPicPr>
          <p:nvPr/>
        </p:nvPicPr>
        <p:blipFill>
          <a:blip r:embed="rId2"/>
          <a:srcRect l="0" r="0" t="0" b="0"/>
          <a:stretch/>
        </p:blipFill>
        <p:spPr>
          <a:xfrm>
            <a:off x="4569867" y="1959570"/>
            <a:ext cx="279400" cy="279400"/>
          </a:xfrm>
          <a:prstGeom prst="rect">
            <a:avLst/>
          </a:prstGeom>
        </p:spPr>
      </p:pic>
      <p:sp>
        <p:nvSpPr>
          <p:cNvPr id="10" name="Text 6"/>
          <p:cNvSpPr/>
          <p:nvPr/>
        </p:nvSpPr>
        <p:spPr>
          <a:xfrm>
            <a:off x="4569867" y="2315170"/>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New approval rights</a:t>
            </a:r>
            <a:endParaRPr lang="en-US" sz="1400" dirty="0"/>
          </a:p>
        </p:txBody>
      </p:sp>
      <p:sp>
        <p:nvSpPr>
          <p:cNvPr id="11" name="Text 7"/>
          <p:cNvSpPr/>
          <p:nvPr/>
        </p:nvSpPr>
        <p:spPr>
          <a:xfrm>
            <a:off x="4569867" y="2604691"/>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Envelopes, the composition rule, mission adoption, and attribute graduation.</a:t>
            </a:r>
            <a:endParaRPr lang="en-US" sz="1200" dirty="0"/>
          </a:p>
        </p:txBody>
      </p:sp>
      <p:sp>
        <p:nvSpPr>
          <p:cNvPr id="12" name="Shape 8"/>
          <p:cNvSpPr/>
          <p:nvPr/>
        </p:nvSpPr>
        <p:spPr>
          <a:xfrm>
            <a:off x="7961809" y="1778595"/>
            <a:ext cx="3414216" cy="1418530"/>
          </a:xfrm>
          <a:prstGeom prst="roundRect">
            <a:avLst>
              <a:gd name="adj" fmla="val 5148"/>
            </a:avLst>
          </a:prstGeom>
          <a:solidFill>
            <a:srgbClr val="FDFCFA"/>
          </a:solidFill>
          <a:ln w="6350">
            <a:solidFill>
              <a:srgbClr val="DEDBD2"/>
            </a:solidFill>
            <a:prstDash val="solid"/>
          </a:ln>
        </p:spPr>
      </p:sp>
      <p:pic>
        <p:nvPicPr>
          <p:cNvPr id="13" name="Image 2" descr="Lock">    </p:cNvPr>
          <p:cNvPicPr>
            <a:picLocks noChangeAspect="1"/>
          </p:cNvPicPr>
          <p:nvPr/>
        </p:nvPicPr>
        <p:blipFill>
          <a:blip r:embed="rId3"/>
          <a:srcRect l="0" r="0" t="0" b="0"/>
          <a:stretch/>
        </p:blipFill>
        <p:spPr>
          <a:xfrm>
            <a:off x="8142784" y="1959570"/>
            <a:ext cx="279400" cy="279400"/>
          </a:xfrm>
          <a:prstGeom prst="rect">
            <a:avLst/>
          </a:prstGeom>
        </p:spPr>
      </p:pic>
      <p:sp>
        <p:nvSpPr>
          <p:cNvPr id="14" name="Text 9"/>
          <p:cNvSpPr/>
          <p:nvPr/>
        </p:nvSpPr>
        <p:spPr>
          <a:xfrm>
            <a:off x="8142784" y="2315170"/>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A kill switch</a:t>
            </a:r>
            <a:endParaRPr lang="en-US" sz="1400" dirty="0"/>
          </a:p>
        </p:txBody>
      </p:sp>
      <p:sp>
        <p:nvSpPr>
          <p:cNvPr id="15" name="Text 10"/>
          <p:cNvSpPr/>
          <p:nvPr/>
        </p:nvSpPr>
        <p:spPr>
          <a:xfrm>
            <a:off x="8142784" y="2604691"/>
            <a:ext cx="314383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Revert any mission to enterprise-only decisions, today's baseline, at any time.</a:t>
            </a:r>
            <a:endParaRPr lang="en-US" sz="1200" dirty="0"/>
          </a:p>
        </p:txBody>
      </p:sp>
      <p:sp>
        <p:nvSpPr>
          <p:cNvPr id="16" name="Shape 11"/>
          <p:cNvSpPr/>
          <p:nvPr/>
        </p:nvSpPr>
        <p:spPr>
          <a:xfrm>
            <a:off x="815975" y="3355876"/>
            <a:ext cx="3414167" cy="1624261"/>
          </a:xfrm>
          <a:prstGeom prst="roundRect">
            <a:avLst>
              <a:gd name="adj" fmla="val 4496"/>
            </a:avLst>
          </a:prstGeom>
          <a:solidFill>
            <a:srgbClr val="FDFCFA"/>
          </a:solidFill>
          <a:ln w="6350">
            <a:solidFill>
              <a:srgbClr val="DEDBD2"/>
            </a:solidFill>
            <a:prstDash val="solid"/>
          </a:ln>
        </p:spPr>
      </p:sp>
      <p:pic>
        <p:nvPicPr>
          <p:cNvPr id="17" name="Image 3" descr="Search">    </p:cNvPr>
          <p:cNvPicPr>
            <a:picLocks noChangeAspect="1"/>
          </p:cNvPicPr>
          <p:nvPr/>
        </p:nvPicPr>
        <p:blipFill>
          <a:blip r:embed="rId4"/>
          <a:srcRect l="0" r="0" t="0" b="0"/>
          <a:stretch/>
        </p:blipFill>
        <p:spPr>
          <a:xfrm>
            <a:off x="996950" y="3536851"/>
            <a:ext cx="279400" cy="279400"/>
          </a:xfrm>
          <a:prstGeom prst="rect">
            <a:avLst/>
          </a:prstGeom>
        </p:spPr>
      </p:pic>
      <p:sp>
        <p:nvSpPr>
          <p:cNvPr id="18" name="Text 12"/>
          <p:cNvSpPr/>
          <p:nvPr/>
        </p:nvSpPr>
        <p:spPr>
          <a:xfrm>
            <a:off x="996950" y="3892451"/>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More visibility than today</a:t>
            </a:r>
            <a:endParaRPr lang="en-US" sz="1400" dirty="0"/>
          </a:p>
        </p:txBody>
      </p:sp>
      <p:sp>
        <p:nvSpPr>
          <p:cNvPr id="19" name="Text 13"/>
          <p:cNvSpPr/>
          <p:nvPr/>
        </p:nvSpPr>
        <p:spPr>
          <a:xfrm>
            <a:off x="996950" y="4181971"/>
            <a:ext cx="314378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Both verdicts logged per request with a correlation ID, covering access ICAM cannot see now.</a:t>
            </a:r>
            <a:endParaRPr lang="en-US" sz="1200" dirty="0"/>
          </a:p>
        </p:txBody>
      </p:sp>
      <p:sp>
        <p:nvSpPr>
          <p:cNvPr id="20" name="Shape 14"/>
          <p:cNvSpPr/>
          <p:nvPr/>
        </p:nvSpPr>
        <p:spPr>
          <a:xfrm>
            <a:off x="4388892" y="3355876"/>
            <a:ext cx="3414167" cy="1624261"/>
          </a:xfrm>
          <a:prstGeom prst="roundRect">
            <a:avLst>
              <a:gd name="adj" fmla="val 4496"/>
            </a:avLst>
          </a:prstGeom>
          <a:solidFill>
            <a:srgbClr val="FDFCFA"/>
          </a:solidFill>
          <a:ln w="6350">
            <a:solidFill>
              <a:srgbClr val="DEDBD2"/>
            </a:solidFill>
            <a:prstDash val="solid"/>
          </a:ln>
        </p:spPr>
      </p:sp>
      <p:pic>
        <p:nvPicPr>
          <p:cNvPr id="21" name="Image 4" descr="Chart">    </p:cNvPr>
          <p:cNvPicPr>
            <a:picLocks noChangeAspect="1"/>
          </p:cNvPicPr>
          <p:nvPr/>
        </p:nvPicPr>
        <p:blipFill>
          <a:blip r:embed="rId5"/>
          <a:srcRect l="0" r="0" t="0" b="0"/>
          <a:stretch/>
        </p:blipFill>
        <p:spPr>
          <a:xfrm>
            <a:off x="4569867" y="3536851"/>
            <a:ext cx="279400" cy="279400"/>
          </a:xfrm>
          <a:prstGeom prst="rect">
            <a:avLst/>
          </a:prstGeom>
        </p:spPr>
      </p:pic>
      <p:sp>
        <p:nvSpPr>
          <p:cNvPr id="22" name="Text 15"/>
          <p:cNvSpPr/>
          <p:nvPr/>
        </p:nvSpPr>
        <p:spPr>
          <a:xfrm>
            <a:off x="4569867" y="3892451"/>
            <a:ext cx="31437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Lower request volume</a:t>
            </a:r>
            <a:endParaRPr lang="en-US" sz="1400" dirty="0"/>
          </a:p>
        </p:txBody>
      </p:sp>
      <p:sp>
        <p:nvSpPr>
          <p:cNvPr id="23" name="Text 16"/>
          <p:cNvSpPr/>
          <p:nvPr/>
        </p:nvSpPr>
        <p:spPr>
          <a:xfrm>
            <a:off x="4569867" y="4181971"/>
            <a:ext cx="314378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Refinements inside approved envelopes stop arriving as individual entitlement requests.</a:t>
            </a:r>
            <a:endParaRPr lang="en-US" sz="1200" dirty="0"/>
          </a:p>
        </p:txBody>
      </p:sp>
      <p:sp>
        <p:nvSpPr>
          <p:cNvPr id="24" name="Shape 17"/>
          <p:cNvSpPr/>
          <p:nvPr/>
        </p:nvSpPr>
        <p:spPr>
          <a:xfrm>
            <a:off x="7961809" y="3355876"/>
            <a:ext cx="3414216" cy="1624261"/>
          </a:xfrm>
          <a:prstGeom prst="roundRect">
            <a:avLst>
              <a:gd name="adj" fmla="val 4496"/>
            </a:avLst>
          </a:prstGeom>
          <a:solidFill>
            <a:srgbClr val="FDFCFA"/>
          </a:solidFill>
          <a:ln w="6350">
            <a:solidFill>
              <a:srgbClr val="DEDBD2"/>
            </a:solidFill>
            <a:prstDash val="solid"/>
          </a:ln>
        </p:spPr>
      </p:sp>
      <p:pic>
        <p:nvPicPr>
          <p:cNvPr id="25" name="Image 5" descr="Lightbulb">    </p:cNvPr>
          <p:cNvPicPr>
            <a:picLocks noChangeAspect="1"/>
          </p:cNvPicPr>
          <p:nvPr/>
        </p:nvPicPr>
        <p:blipFill>
          <a:blip r:embed="rId6"/>
          <a:srcRect l="0" r="0" t="0" b="0"/>
          <a:stretch/>
        </p:blipFill>
        <p:spPr>
          <a:xfrm>
            <a:off x="8142784" y="3536851"/>
            <a:ext cx="279400" cy="279400"/>
          </a:xfrm>
          <a:prstGeom prst="rect">
            <a:avLst/>
          </a:prstGeom>
        </p:spPr>
      </p:pic>
      <p:sp>
        <p:nvSpPr>
          <p:cNvPr id="26" name="Text 18"/>
          <p:cNvSpPr/>
          <p:nvPr/>
        </p:nvSpPr>
        <p:spPr>
          <a:xfrm>
            <a:off x="8142784" y="389245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Rogue authorization surfaced</a:t>
            </a:r>
            <a:endParaRPr lang="en-US" sz="1400" dirty="0"/>
          </a:p>
        </p:txBody>
      </p:sp>
      <p:sp>
        <p:nvSpPr>
          <p:cNvPr id="27" name="Text 19"/>
          <p:cNvSpPr/>
          <p:nvPr/>
        </p:nvSpPr>
        <p:spPr>
          <a:xfrm>
            <a:off x="8142784" y="4181971"/>
            <a:ext cx="314383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Rules hidden in app code and workarounds move into one governed, auditable pattern.</a:t>
            </a:r>
            <a:endParaRPr lang="en-US" sz="1200" dirty="0"/>
          </a:p>
        </p:txBody>
      </p:sp>
      <p:sp>
        <p:nvSpPr>
          <p:cNvPr id="28" name="Text 2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13 / 32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ICAM sets the envelope; missions refine inside</a:t>
            </a:r>
            <a:endParaRPr lang="en-US" sz="3000" dirty="0"/>
          </a:p>
        </p:txBody>
      </p:sp>
      <p:sp>
        <p:nvSpPr>
          <p:cNvPr id="4" name="Shape 2"/>
          <p:cNvSpPr/>
          <p:nvPr/>
        </p:nvSpPr>
        <p:spPr>
          <a:xfrm>
            <a:off x="822325" y="1784945"/>
            <a:ext cx="5695950" cy="3109416"/>
          </a:xfrm>
          <a:prstGeom prst="roundRect">
            <a:avLst>
              <a:gd name="adj" fmla="val 2961"/>
            </a:avLst>
          </a:prstGeom>
          <a:solidFill>
            <a:srgbClr val="E6F1FB"/>
          </a:solidFill>
          <a:ln w="19050">
            <a:solidFill>
              <a:srgbClr val="185FA5"/>
            </a:solidFill>
            <a:prstDash val="dash"/>
          </a:ln>
        </p:spPr>
      </p:sp>
      <p:sp>
        <p:nvSpPr>
          <p:cNvPr id="5" name="Text 3"/>
          <p:cNvSpPr/>
          <p:nvPr/>
        </p:nvSpPr>
        <p:spPr>
          <a:xfrm>
            <a:off x="1060450" y="2023070"/>
            <a:ext cx="537629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C447C"/>
                </a:solidFill>
                <a:latin typeface="IBM Plex Mono" pitchFamily="49" charset="0"/>
                <a:ea typeface="IBM Plex Mono" pitchFamily="49" charset="-122"/>
                <a:cs typeface="IBM Plex Mono" pitchFamily="49" charset="-120"/>
              </a:rPr>
              <a:t>ACCESS ENVELOPE · ICAM APPROVES</a:t>
            </a:r>
            <a:endParaRPr lang="en-US" sz="1200" dirty="0"/>
          </a:p>
        </p:txBody>
      </p:sp>
      <p:sp>
        <p:nvSpPr>
          <p:cNvPr id="6" name="Text 4"/>
          <p:cNvSpPr/>
          <p:nvPr/>
        </p:nvSpPr>
        <p:spPr>
          <a:xfrm>
            <a:off x="1060450" y="2363391"/>
            <a:ext cx="53762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C447C"/>
                </a:solidFill>
                <a:latin typeface="IBM Plex Sans" pitchFamily="34" charset="0"/>
                <a:ea typeface="IBM Plex Sans" pitchFamily="34" charset="-122"/>
                <a:cs typeface="IBM Plex Sans" pitchFamily="34" charset="-120"/>
              </a:rPr>
              <a:t>Permission to release within one mission's data</a:t>
            </a:r>
            <a:endParaRPr lang="en-US" sz="1600" dirty="0"/>
          </a:p>
        </p:txBody>
      </p:sp>
      <p:sp>
        <p:nvSpPr>
          <p:cNvPr id="7" name="Shape 5"/>
          <p:cNvSpPr/>
          <p:nvPr/>
        </p:nvSpPr>
        <p:spPr>
          <a:xfrm>
            <a:off x="1066800" y="2750741"/>
            <a:ext cx="5207000" cy="1549301"/>
          </a:xfrm>
          <a:prstGeom prst="roundRect">
            <a:avLst>
              <a:gd name="adj" fmla="val 4508"/>
            </a:avLst>
          </a:prstGeom>
          <a:solidFill>
            <a:srgbClr val="E1F5EE"/>
          </a:solidFill>
          <a:ln w="12700">
            <a:solidFill>
              <a:srgbClr val="0F6E56"/>
            </a:solidFill>
            <a:prstDash val="solid"/>
          </a:ln>
        </p:spPr>
      </p:sp>
      <p:sp>
        <p:nvSpPr>
          <p:cNvPr id="8" name="Text 6"/>
          <p:cNvSpPr/>
          <p:nvPr/>
        </p:nvSpPr>
        <p:spPr>
          <a:xfrm>
            <a:off x="1250950" y="2934891"/>
            <a:ext cx="498386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85041"/>
                </a:solidFill>
                <a:latin typeface="IBM Plex Mono" pitchFamily="49" charset="0"/>
                <a:ea typeface="IBM Plex Mono" pitchFamily="49" charset="-122"/>
                <a:cs typeface="IBM Plex Mono" pitchFamily="49" charset="-120"/>
              </a:rPr>
              <a:t>MISSION POLICY · REFINES INSIDE</a:t>
            </a:r>
            <a:endParaRPr lang="en-US" sz="1200" dirty="0"/>
          </a:p>
        </p:txBody>
      </p:sp>
      <p:sp>
        <p:nvSpPr>
          <p:cNvPr id="9" name="Text 7"/>
          <p:cNvSpPr/>
          <p:nvPr/>
        </p:nvSpPr>
        <p:spPr>
          <a:xfrm>
            <a:off x="1250950" y="3249811"/>
            <a:ext cx="4983861"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85041"/>
                </a:solidFill>
                <a:latin typeface="IBM Plex Sans" pitchFamily="34" charset="0"/>
                <a:ea typeface="IBM Plex Sans" pitchFamily="34" charset="-122"/>
                <a:cs typeface="IBM Plex Sans" pitchFamily="34" charset="-120"/>
              </a:rPr>
              <a:t>Analysts assigned to a specific case may release its products.</a:t>
            </a:r>
            <a:endParaRPr lang="en-US" sz="1400" dirty="0"/>
          </a:p>
        </p:txBody>
      </p:sp>
      <p:sp>
        <p:nvSpPr>
          <p:cNvPr id="10" name="Text 8"/>
          <p:cNvSpPr/>
          <p:nvPr/>
        </p:nvSpPr>
        <p:spPr>
          <a:xfrm>
            <a:off x="1254125" y="3816846"/>
            <a:ext cx="1403052" cy="295870"/>
          </a:xfrm>
          <a:prstGeom prst="roundRect">
            <a:avLst>
              <a:gd name="adj" fmla="val 50000"/>
            </a:avLst>
          </a:prstGeom>
          <a:solidFill>
            <a:srgbClr val="FDFCFA"/>
          </a:solidFill>
          <a:ln w="6350">
            <a:solidFill>
              <a:srgbClr val="0F6E56"/>
            </a:solidFill>
            <a:prstDash val="solid"/>
          </a:ln>
        </p:spPr>
        <p:txBody>
          <a:bodyPr wrap="none" lIns="0" tIns="0" rIns="0" bIns="0" rtlCol="0" anchor="ctr">
            <a:normAutofit/>
          </a:bodyPr>
          <a:lstStyle/>
          <a:p>
            <a:pPr algn="ctr" indent="0" marL="0">
              <a:lnSpc>
                <a:spcPts val="1680"/>
              </a:lnSpc>
              <a:buNone/>
            </a:pPr>
            <a:r>
              <a:rPr lang="en-US" sz="1200" dirty="0">
                <a:solidFill>
                  <a:srgbClr val="085041"/>
                </a:solidFill>
                <a:latin typeface="IBM Plex Sans" pitchFamily="34" charset="0"/>
                <a:ea typeface="IBM Plex Sans" pitchFamily="34" charset="-122"/>
                <a:cs typeface="IBM Plex Sans" pitchFamily="34" charset="-120"/>
              </a:rPr>
              <a:t>case assignment</a:t>
            </a:r>
            <a:endParaRPr lang="en-US" sz="1200" dirty="0"/>
          </a:p>
        </p:txBody>
      </p:sp>
      <p:sp>
        <p:nvSpPr>
          <p:cNvPr id="11" name="Text 9"/>
          <p:cNvSpPr/>
          <p:nvPr/>
        </p:nvSpPr>
        <p:spPr>
          <a:xfrm>
            <a:off x="2739727" y="3816846"/>
            <a:ext cx="1090662" cy="295870"/>
          </a:xfrm>
          <a:prstGeom prst="roundRect">
            <a:avLst>
              <a:gd name="adj" fmla="val 50000"/>
            </a:avLst>
          </a:prstGeom>
          <a:solidFill>
            <a:srgbClr val="FDFCFA"/>
          </a:solidFill>
          <a:ln w="6350">
            <a:solidFill>
              <a:srgbClr val="0F6E56"/>
            </a:solidFill>
            <a:prstDash val="solid"/>
          </a:ln>
        </p:spPr>
        <p:txBody>
          <a:bodyPr wrap="none" lIns="0" tIns="0" rIns="0" bIns="0" rtlCol="0" anchor="ctr">
            <a:normAutofit/>
          </a:bodyPr>
          <a:lstStyle/>
          <a:p>
            <a:pPr algn="ctr" indent="0" marL="0">
              <a:lnSpc>
                <a:spcPts val="1680"/>
              </a:lnSpc>
              <a:buNone/>
            </a:pPr>
            <a:r>
              <a:rPr lang="en-US" sz="1200" dirty="0">
                <a:solidFill>
                  <a:srgbClr val="085041"/>
                </a:solidFill>
                <a:latin typeface="IBM Plex Sans" pitchFamily="34" charset="0"/>
                <a:ea typeface="IBM Plex Sans" pitchFamily="34" charset="-122"/>
                <a:cs typeface="IBM Plex Sans" pitchFamily="34" charset="-120"/>
              </a:rPr>
              <a:t>mission role</a:t>
            </a:r>
            <a:endParaRPr lang="en-US" sz="1200" dirty="0"/>
          </a:p>
        </p:txBody>
      </p:sp>
      <p:sp>
        <p:nvSpPr>
          <p:cNvPr id="12" name="Text 10"/>
          <p:cNvSpPr/>
          <p:nvPr/>
        </p:nvSpPr>
        <p:spPr>
          <a:xfrm>
            <a:off x="3912939" y="3816846"/>
            <a:ext cx="1297930" cy="295870"/>
          </a:xfrm>
          <a:prstGeom prst="roundRect">
            <a:avLst>
              <a:gd name="adj" fmla="val 50000"/>
            </a:avLst>
          </a:prstGeom>
          <a:solidFill>
            <a:srgbClr val="FDFCFA"/>
          </a:solidFill>
          <a:ln w="6350">
            <a:solidFill>
              <a:srgbClr val="0F6E56"/>
            </a:solidFill>
            <a:prstDash val="solid"/>
          </a:ln>
        </p:spPr>
        <p:txBody>
          <a:bodyPr wrap="none" lIns="0" tIns="0" rIns="0" bIns="0" rtlCol="0" anchor="ctr">
            <a:normAutofit/>
          </a:bodyPr>
          <a:lstStyle/>
          <a:p>
            <a:pPr algn="ctr" indent="0" marL="0">
              <a:lnSpc>
                <a:spcPts val="1680"/>
              </a:lnSpc>
              <a:buNone/>
            </a:pPr>
            <a:r>
              <a:rPr lang="en-US" sz="1200" dirty="0">
                <a:solidFill>
                  <a:srgbClr val="085041"/>
                </a:solidFill>
                <a:latin typeface="IBM Plex Sans" pitchFamily="34" charset="0"/>
                <a:ea typeface="IBM Plex Sans" pitchFamily="34" charset="-122"/>
                <a:cs typeface="IBM Plex Sans" pitchFamily="34" charset="-120"/>
              </a:rPr>
              <a:t>workflow stage</a:t>
            </a:r>
            <a:endParaRPr lang="en-US" sz="1200" dirty="0"/>
          </a:p>
        </p:txBody>
      </p:sp>
      <p:sp>
        <p:nvSpPr>
          <p:cNvPr id="13" name="Text 11"/>
          <p:cNvSpPr/>
          <p:nvPr/>
        </p:nvSpPr>
        <p:spPr>
          <a:xfrm>
            <a:off x="1060450" y="4433391"/>
            <a:ext cx="537629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C447C"/>
                </a:solidFill>
                <a:latin typeface="IBM Plex Sans" pitchFamily="34" charset="0"/>
                <a:ea typeface="IBM Plex Sans" pitchFamily="34" charset="-122"/>
                <a:cs typeface="IBM Plex Sans" pitchFamily="34" charset="-120"/>
              </a:rPr>
              <a:t>Mission policy can narrow this boundary. It can never exceed it.</a:t>
            </a:r>
            <a:endParaRPr lang="en-US" sz="1300" dirty="0"/>
          </a:p>
        </p:txBody>
      </p:sp>
      <p:sp>
        <p:nvSpPr>
          <p:cNvPr id="14" name="Shape 12"/>
          <p:cNvSpPr/>
          <p:nvPr/>
        </p:nvSpPr>
        <p:spPr>
          <a:xfrm>
            <a:off x="6784975" y="1778595"/>
            <a:ext cx="4591050" cy="1327051"/>
          </a:xfrm>
          <a:prstGeom prst="roundRect">
            <a:avLst>
              <a:gd name="adj" fmla="val 5503"/>
            </a:avLst>
          </a:prstGeom>
          <a:solidFill>
            <a:srgbClr val="FDFCFA"/>
          </a:solidFill>
          <a:ln w="6350">
            <a:solidFill>
              <a:srgbClr val="DEDBD2"/>
            </a:solidFill>
            <a:prstDash val="solid"/>
          </a:ln>
        </p:spPr>
      </p:sp>
      <p:sp>
        <p:nvSpPr>
          <p:cNvPr id="15" name="Text 13"/>
          <p:cNvSpPr/>
          <p:nvPr/>
        </p:nvSpPr>
        <p:spPr>
          <a:xfrm>
            <a:off x="6965950" y="1959570"/>
            <a:ext cx="4355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RARE · ENTERPRISE ICAM</a:t>
            </a:r>
            <a:endParaRPr lang="en-US" sz="1200" dirty="0"/>
          </a:p>
        </p:txBody>
      </p:sp>
      <p:sp>
        <p:nvSpPr>
          <p:cNvPr id="16" name="Text 14"/>
          <p:cNvSpPr/>
          <p:nvPr/>
        </p:nvSpPr>
        <p:spPr>
          <a:xfrm>
            <a:off x="6965950" y="2236391"/>
            <a:ext cx="43559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Vocabulary change</a:t>
            </a:r>
            <a:endParaRPr lang="en-US" sz="1400" dirty="0"/>
          </a:p>
        </p:txBody>
      </p:sp>
      <p:sp>
        <p:nvSpPr>
          <p:cNvPr id="17" name="Text 15"/>
          <p:cNvSpPr/>
          <p:nvPr/>
        </p:nvSpPr>
        <p:spPr>
          <a:xfrm>
            <a:off x="6965950" y="2513211"/>
            <a:ext cx="435597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 new release marking, or a new value for an enterprise attribute.</a:t>
            </a:r>
            <a:endParaRPr lang="en-US" sz="1200" dirty="0"/>
          </a:p>
        </p:txBody>
      </p:sp>
      <p:sp>
        <p:nvSpPr>
          <p:cNvPr id="18" name="Shape 16"/>
          <p:cNvSpPr/>
          <p:nvPr/>
        </p:nvSpPr>
        <p:spPr>
          <a:xfrm>
            <a:off x="6784975" y="3264396"/>
            <a:ext cx="4591050" cy="1121321"/>
          </a:xfrm>
          <a:prstGeom prst="roundRect">
            <a:avLst>
              <a:gd name="adj" fmla="val 6512"/>
            </a:avLst>
          </a:prstGeom>
          <a:solidFill>
            <a:srgbClr val="FDFCFA"/>
          </a:solidFill>
          <a:ln w="6350">
            <a:solidFill>
              <a:srgbClr val="DEDBD2"/>
            </a:solidFill>
            <a:prstDash val="solid"/>
          </a:ln>
        </p:spPr>
      </p:sp>
      <p:sp>
        <p:nvSpPr>
          <p:cNvPr id="19" name="Text 17"/>
          <p:cNvSpPr/>
          <p:nvPr/>
        </p:nvSpPr>
        <p:spPr>
          <a:xfrm>
            <a:off x="6965950" y="3445371"/>
            <a:ext cx="4355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BM Plex Mono" pitchFamily="49" charset="0"/>
                <a:ea typeface="IBM Plex Mono" pitchFamily="49" charset="-122"/>
                <a:cs typeface="IBM Plex Mono" pitchFamily="49" charset="-120"/>
              </a:rPr>
              <a:t>FREQUENT · MISSION POLICY</a:t>
            </a:r>
            <a:endParaRPr lang="en-US" sz="1200" dirty="0"/>
          </a:p>
        </p:txBody>
      </p:sp>
      <p:sp>
        <p:nvSpPr>
          <p:cNvPr id="20" name="Text 18"/>
          <p:cNvSpPr/>
          <p:nvPr/>
        </p:nvSpPr>
        <p:spPr>
          <a:xfrm>
            <a:off x="6965950" y="3722191"/>
            <a:ext cx="43559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Access change within an envelope</a:t>
            </a:r>
            <a:endParaRPr lang="en-US" sz="1400" dirty="0"/>
          </a:p>
        </p:txBody>
      </p:sp>
      <p:sp>
        <p:nvSpPr>
          <p:cNvPr id="21" name="Text 19"/>
          <p:cNvSpPr/>
          <p:nvPr/>
        </p:nvSpPr>
        <p:spPr>
          <a:xfrm>
            <a:off x="6965950" y="3999012"/>
            <a:ext cx="4355973"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Allowing analysts on a specific case to release its products.</a:t>
            </a:r>
            <a:endParaRPr lang="en-US" sz="1200" dirty="0"/>
          </a:p>
        </p:txBody>
      </p:sp>
      <p:sp>
        <p:nvSpPr>
          <p:cNvPr id="22" name="Text 2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New access is always an ICAM decision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14 / 32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Every attribute has exactly one owner</a:t>
            </a:r>
            <a:endParaRPr lang="en-US" sz="3000" dirty="0"/>
          </a:p>
        </p:txBody>
      </p:sp>
      <p:sp>
        <p:nvSpPr>
          <p:cNvPr id="4" name="Shape 2"/>
          <p:cNvSpPr/>
          <p:nvPr/>
        </p:nvSpPr>
        <p:spPr>
          <a:xfrm>
            <a:off x="812800" y="1781770"/>
            <a:ext cx="10566400" cy="0"/>
          </a:xfrm>
          <a:prstGeom prst="line">
            <a:avLst/>
          </a:prstGeom>
          <a:noFill/>
          <a:ln w="12700">
            <a:solidFill>
              <a:srgbClr val="14202E"/>
            </a:solidFill>
            <a:prstDash val="solid"/>
          </a:ln>
        </p:spPr>
      </p:sp>
      <p:sp>
        <p:nvSpPr>
          <p:cNvPr id="5" name="Text 3"/>
          <p:cNvSpPr/>
          <p:nvPr/>
        </p:nvSpPr>
        <p:spPr>
          <a:xfrm>
            <a:off x="812800" y="1915120"/>
            <a:ext cx="508000" cy="49148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85FA5"/>
                </a:solidFill>
                <a:latin typeface="IBM Plex Mono" pitchFamily="49" charset="0"/>
                <a:ea typeface="IBM Plex Mono" pitchFamily="49" charset="-122"/>
                <a:cs typeface="IBM Plex Mono" pitchFamily="49" charset="-120"/>
              </a:rPr>
              <a:t>01</a:t>
            </a:r>
            <a:endParaRPr lang="en-US" sz="1800" dirty="0"/>
          </a:p>
        </p:txBody>
      </p:sp>
      <p:sp>
        <p:nvSpPr>
          <p:cNvPr id="6" name="Text 4"/>
          <p:cNvSpPr/>
          <p:nvPr/>
        </p:nvSpPr>
        <p:spPr>
          <a:xfrm>
            <a:off x="1473200" y="1915120"/>
            <a:ext cx="102031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One owner per attribute</a:t>
            </a:r>
            <a:endParaRPr lang="en-US" sz="1400" dirty="0"/>
          </a:p>
        </p:txBody>
      </p:sp>
      <p:sp>
        <p:nvSpPr>
          <p:cNvPr id="7" name="Text 5"/>
          <p:cNvSpPr/>
          <p:nvPr/>
        </p:nvSpPr>
        <p:spPr>
          <a:xfrm>
            <a:off x="1473200" y="2175470"/>
            <a:ext cx="102031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If two parties can write the same attribute, it is not authoritative.</a:t>
            </a:r>
            <a:endParaRPr lang="en-US" sz="1200" dirty="0"/>
          </a:p>
        </p:txBody>
      </p:sp>
      <p:sp>
        <p:nvSpPr>
          <p:cNvPr id="8" name="Shape 6"/>
          <p:cNvSpPr/>
          <p:nvPr/>
        </p:nvSpPr>
        <p:spPr>
          <a:xfrm>
            <a:off x="812800" y="2511375"/>
            <a:ext cx="10566400" cy="0"/>
          </a:xfrm>
          <a:prstGeom prst="line">
            <a:avLst/>
          </a:prstGeom>
          <a:noFill/>
          <a:ln w="6350">
            <a:solidFill>
              <a:srgbClr val="DEDBD2"/>
            </a:solidFill>
            <a:prstDash val="solid"/>
          </a:ln>
        </p:spPr>
      </p:sp>
      <p:sp>
        <p:nvSpPr>
          <p:cNvPr id="9" name="Text 7"/>
          <p:cNvSpPr/>
          <p:nvPr/>
        </p:nvSpPr>
        <p:spPr>
          <a:xfrm>
            <a:off x="812800" y="2641550"/>
            <a:ext cx="508000" cy="49148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85FA5"/>
                </a:solidFill>
                <a:latin typeface="IBM Plex Mono" pitchFamily="49" charset="0"/>
                <a:ea typeface="IBM Plex Mono" pitchFamily="49" charset="-122"/>
                <a:cs typeface="IBM Plex Mono" pitchFamily="49" charset="-120"/>
              </a:rPr>
              <a:t>02</a:t>
            </a:r>
            <a:endParaRPr lang="en-US" sz="1800" dirty="0"/>
          </a:p>
        </p:txBody>
      </p:sp>
      <p:sp>
        <p:nvSpPr>
          <p:cNvPr id="10" name="Text 8"/>
          <p:cNvSpPr/>
          <p:nvPr/>
        </p:nvSpPr>
        <p:spPr>
          <a:xfrm>
            <a:off x="1473200" y="2641550"/>
            <a:ext cx="102031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The mission never writes or caches enterprise attributes</a:t>
            </a:r>
            <a:endParaRPr lang="en-US" sz="1400" dirty="0"/>
          </a:p>
        </p:txBody>
      </p:sp>
      <p:sp>
        <p:nvSpPr>
          <p:cNvPr id="11" name="Text 9"/>
          <p:cNvSpPr/>
          <p:nvPr/>
        </p:nvSpPr>
        <p:spPr>
          <a:xfrm>
            <a:off x="1473200" y="2901900"/>
            <a:ext cx="102031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It reads them from the token or the enterprise PIP at decision time.</a:t>
            </a:r>
            <a:endParaRPr lang="en-US" sz="1200" dirty="0"/>
          </a:p>
        </p:txBody>
      </p:sp>
      <p:sp>
        <p:nvSpPr>
          <p:cNvPr id="12" name="Shape 10"/>
          <p:cNvSpPr/>
          <p:nvPr/>
        </p:nvSpPr>
        <p:spPr>
          <a:xfrm>
            <a:off x="812800" y="3237805"/>
            <a:ext cx="10566400" cy="0"/>
          </a:xfrm>
          <a:prstGeom prst="line">
            <a:avLst/>
          </a:prstGeom>
          <a:noFill/>
          <a:ln w="6350">
            <a:solidFill>
              <a:srgbClr val="DEDBD2"/>
            </a:solidFill>
            <a:prstDash val="solid"/>
          </a:ln>
        </p:spPr>
      </p:sp>
      <p:sp>
        <p:nvSpPr>
          <p:cNvPr id="13" name="Text 11"/>
          <p:cNvSpPr/>
          <p:nvPr/>
        </p:nvSpPr>
        <p:spPr>
          <a:xfrm>
            <a:off x="812800" y="3367980"/>
            <a:ext cx="508000" cy="49148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85FA5"/>
                </a:solidFill>
                <a:latin typeface="IBM Plex Mono" pitchFamily="49" charset="0"/>
                <a:ea typeface="IBM Plex Mono" pitchFamily="49" charset="-122"/>
                <a:cs typeface="IBM Plex Mono" pitchFamily="49" charset="-120"/>
              </a:rPr>
              <a:t>03</a:t>
            </a:r>
            <a:endParaRPr lang="en-US" sz="1800" dirty="0"/>
          </a:p>
        </p:txBody>
      </p:sp>
      <p:sp>
        <p:nvSpPr>
          <p:cNvPr id="14" name="Text 12"/>
          <p:cNvSpPr/>
          <p:nvPr/>
        </p:nvSpPr>
        <p:spPr>
          <a:xfrm>
            <a:off x="1473200" y="3367980"/>
            <a:ext cx="102031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Mission-derived attributes only restrict</a:t>
            </a:r>
            <a:endParaRPr lang="en-US" sz="1400" dirty="0"/>
          </a:p>
        </p:txBody>
      </p:sp>
      <p:sp>
        <p:nvSpPr>
          <p:cNvPr id="15" name="Text 13"/>
          <p:cNvSpPr/>
          <p:nvPr/>
        </p:nvSpPr>
        <p:spPr>
          <a:xfrm>
            <a:off x="1473200" y="3628330"/>
            <a:ext cx="102031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They narrow access inside an envelope but never stand in for a clearance or entitlement.</a:t>
            </a:r>
            <a:endParaRPr lang="en-US" sz="1200" dirty="0"/>
          </a:p>
        </p:txBody>
      </p:sp>
      <p:sp>
        <p:nvSpPr>
          <p:cNvPr id="16" name="Shape 14"/>
          <p:cNvSpPr/>
          <p:nvPr/>
        </p:nvSpPr>
        <p:spPr>
          <a:xfrm>
            <a:off x="812800" y="3964236"/>
            <a:ext cx="10566400" cy="0"/>
          </a:xfrm>
          <a:prstGeom prst="line">
            <a:avLst/>
          </a:prstGeom>
          <a:noFill/>
          <a:ln w="6350">
            <a:solidFill>
              <a:srgbClr val="DEDBD2"/>
            </a:solidFill>
            <a:prstDash val="solid"/>
          </a:ln>
        </p:spPr>
      </p:sp>
      <p:sp>
        <p:nvSpPr>
          <p:cNvPr id="17" name="Text 15"/>
          <p:cNvSpPr/>
          <p:nvPr/>
        </p:nvSpPr>
        <p:spPr>
          <a:xfrm>
            <a:off x="812800" y="4094411"/>
            <a:ext cx="508000" cy="49148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85FA5"/>
                </a:solidFill>
                <a:latin typeface="IBM Plex Mono" pitchFamily="49" charset="0"/>
                <a:ea typeface="IBM Plex Mono" pitchFamily="49" charset="-122"/>
                <a:cs typeface="IBM Plex Mono" pitchFamily="49" charset="-120"/>
              </a:rPr>
              <a:t>04</a:t>
            </a:r>
            <a:endParaRPr lang="en-US" sz="1800" dirty="0"/>
          </a:p>
        </p:txBody>
      </p:sp>
      <p:sp>
        <p:nvSpPr>
          <p:cNvPr id="18" name="Text 16"/>
          <p:cNvSpPr/>
          <p:nvPr/>
        </p:nvSpPr>
        <p:spPr>
          <a:xfrm>
            <a:off x="1473200" y="4094411"/>
            <a:ext cx="102031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Register before use</a:t>
            </a:r>
            <a:endParaRPr lang="en-US" sz="1400" dirty="0"/>
          </a:p>
        </p:txBody>
      </p:sp>
      <p:sp>
        <p:nvSpPr>
          <p:cNvPr id="19" name="Text 17"/>
          <p:cNvSpPr/>
          <p:nvPr/>
        </p:nvSpPr>
        <p:spPr>
          <a:xfrm>
            <a:off x="1473200" y="4354761"/>
            <a:ext cx="102031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The ICAM-visible registry generates Cerbos schemas, so CI rejects any policy using an unregistered or misnamed attribute.</a:t>
            </a:r>
            <a:endParaRPr lang="en-US" sz="1200" dirty="0"/>
          </a:p>
        </p:txBody>
      </p:sp>
      <p:sp>
        <p:nvSpPr>
          <p:cNvPr id="20" name="Shape 18"/>
          <p:cNvSpPr/>
          <p:nvPr/>
        </p:nvSpPr>
        <p:spPr>
          <a:xfrm>
            <a:off x="812800" y="4690666"/>
            <a:ext cx="10566400" cy="0"/>
          </a:xfrm>
          <a:prstGeom prst="line">
            <a:avLst/>
          </a:prstGeom>
          <a:noFill/>
          <a:ln w="6350">
            <a:solidFill>
              <a:srgbClr val="DEDBD2"/>
            </a:solidFill>
            <a:prstDash val="solid"/>
          </a:ln>
        </p:spPr>
      </p:sp>
      <p:sp>
        <p:nvSpPr>
          <p:cNvPr id="21" name="Shape 19"/>
          <p:cNvSpPr/>
          <p:nvPr/>
        </p:nvSpPr>
        <p:spPr>
          <a:xfrm>
            <a:off x="812800" y="5417096"/>
            <a:ext cx="10566400" cy="0"/>
          </a:xfrm>
          <a:prstGeom prst="line">
            <a:avLst/>
          </a:prstGeom>
          <a:noFill/>
          <a:ln w="6350">
            <a:solidFill>
              <a:srgbClr val="DEDBD2"/>
            </a:solidFill>
            <a:prstDash val="solid"/>
          </a:ln>
        </p:spPr>
      </p:sp>
      <p:sp>
        <p:nvSpPr>
          <p:cNvPr id="22" name="Text 20"/>
          <p:cNvSpPr/>
          <p:nvPr/>
        </p:nvSpPr>
        <p:spPr>
          <a:xfrm>
            <a:off x="812800" y="4820841"/>
            <a:ext cx="508000" cy="49148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85FA5"/>
                </a:solidFill>
                <a:latin typeface="IBM Plex Mono" pitchFamily="49" charset="0"/>
                <a:ea typeface="IBM Plex Mono" pitchFamily="49" charset="-122"/>
                <a:cs typeface="IBM Plex Mono" pitchFamily="49" charset="-120"/>
              </a:rPr>
              <a:t>05</a:t>
            </a:r>
            <a:endParaRPr lang="en-US" sz="1800" dirty="0"/>
          </a:p>
        </p:txBody>
      </p:sp>
      <p:sp>
        <p:nvSpPr>
          <p:cNvPr id="23" name="Text 21"/>
          <p:cNvSpPr/>
          <p:nvPr/>
        </p:nvSpPr>
        <p:spPr>
          <a:xfrm>
            <a:off x="1473200" y="4820841"/>
            <a:ext cx="102031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The attribute is enterprise; its interpretation is local</a:t>
            </a:r>
            <a:endParaRPr lang="en-US" sz="1400" dirty="0"/>
          </a:p>
        </p:txBody>
      </p:sp>
      <p:sp>
        <p:nvSpPr>
          <p:cNvPr id="24" name="Text 22"/>
          <p:cNvSpPr/>
          <p:nvPr/>
        </p:nvSpPr>
        <p:spPr>
          <a:xfrm>
            <a:off x="1473200" y="5081191"/>
            <a:ext cx="1020318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Holding a position is an enterprise fact. What that position may do in a given mission is mission policy.</a:t>
            </a:r>
            <a:endParaRPr lang="en-US" sz="1200" dirty="0"/>
          </a:p>
        </p:txBody>
      </p:sp>
      <p:sp>
        <p:nvSpPr>
          <p:cNvPr id="25" name="Text 2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15 / 32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One test decides where an attribute lives</a:t>
            </a:r>
            <a:endParaRPr lang="en-US" sz="3000" dirty="0"/>
          </a:p>
        </p:txBody>
      </p:sp>
      <p:sp>
        <p:nvSpPr>
          <p:cNvPr id="4" name="Text 2"/>
          <p:cNvSpPr/>
          <p:nvPr/>
        </p:nvSpPr>
        <p:spPr>
          <a:xfrm>
            <a:off x="812800" y="1775420"/>
            <a:ext cx="10566400" cy="636240"/>
          </a:xfrm>
          <a:prstGeom prst="roundRect">
            <a:avLst>
              <a:gd name="adj" fmla="val 11977"/>
            </a:avLst>
          </a:prstGeom>
          <a:solidFill>
            <a:srgbClr val="14202E"/>
          </a:solidFill>
          <a:ln/>
        </p:spPr>
        <p:txBody>
          <a:bodyPr wrap="square" lIns="206282" tIns="155482" rIns="0" bIns="130082" rtlCol="0" anchor="t">
            <a:normAutofit/>
          </a:bodyPr>
          <a:lstStyle/>
          <a:p>
            <a:pPr algn="l" indent="0" marL="0">
              <a:lnSpc>
                <a:spcPts val="2210"/>
              </a:lnSpc>
              <a:buNone/>
            </a:pPr>
            <a:r>
              <a:rPr lang="en-US" sz="1700" dirty="0">
                <a:solidFill>
                  <a:srgbClr val="F2F0EA"/>
                </a:solidFill>
                <a:latin typeface="IBM Plex Sans" pitchFamily="34" charset="0"/>
                <a:ea typeface="IBM Plex Sans" pitchFamily="34" charset="-122"/>
                <a:cs typeface="IBM Plex Sans" pitchFamily="34" charset="-120"/>
              </a:rPr>
              <a:t>Does it need to mean the same thing outside this mission, or must the enterprise PDP evaluate it?</a:t>
            </a:r>
            <a:endParaRPr lang="en-US" sz="1700" dirty="0"/>
          </a:p>
        </p:txBody>
      </p:sp>
      <p:sp>
        <p:nvSpPr>
          <p:cNvPr id="5" name="Shape 3"/>
          <p:cNvSpPr/>
          <p:nvPr/>
        </p:nvSpPr>
        <p:spPr>
          <a:xfrm>
            <a:off x="819150" y="2570411"/>
            <a:ext cx="5194300" cy="1262311"/>
          </a:xfrm>
          <a:prstGeom prst="roundRect">
            <a:avLst>
              <a:gd name="adj" fmla="val 5534"/>
            </a:avLst>
          </a:prstGeom>
          <a:solidFill>
            <a:srgbClr val="E6F1FB"/>
          </a:solidFill>
          <a:ln w="12700">
            <a:solidFill>
              <a:srgbClr val="185FA5"/>
            </a:solidFill>
            <a:prstDash val="solid"/>
          </a:ln>
        </p:spPr>
      </p:sp>
      <p:sp>
        <p:nvSpPr>
          <p:cNvPr id="6" name="Text 4"/>
          <p:cNvSpPr/>
          <p:nvPr/>
        </p:nvSpPr>
        <p:spPr>
          <a:xfrm>
            <a:off x="1003300" y="275456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YES · ENTERPRISE VOCABULARY</a:t>
            </a:r>
            <a:endParaRPr lang="en-US" sz="1200" dirty="0"/>
          </a:p>
        </p:txBody>
      </p:sp>
      <p:sp>
        <p:nvSpPr>
          <p:cNvPr id="7" name="Text 5"/>
          <p:cNvSpPr/>
          <p:nvPr/>
        </p:nvSpPr>
        <p:spPr>
          <a:xfrm>
            <a:off x="1003300" y="3031381"/>
            <a:ext cx="497078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447C"/>
                </a:solidFill>
                <a:latin typeface="IBM Plex Sans" pitchFamily="34" charset="0"/>
                <a:ea typeface="IBM Plex Sans" pitchFamily="34" charset="-122"/>
                <a:cs typeface="IBM Plex Sans" pitchFamily="34" charset="-120"/>
              </a:rPr>
              <a:t>Defined and changed by enterprise ICAM. Missions apply it but cannot redefine it. Example: classification and release markings.</a:t>
            </a:r>
            <a:endParaRPr lang="en-US" sz="1200" dirty="0"/>
          </a:p>
        </p:txBody>
      </p:sp>
      <p:sp>
        <p:nvSpPr>
          <p:cNvPr id="8" name="Shape 6"/>
          <p:cNvSpPr/>
          <p:nvPr/>
        </p:nvSpPr>
        <p:spPr>
          <a:xfrm>
            <a:off x="6178550" y="2570411"/>
            <a:ext cx="5194300" cy="1262311"/>
          </a:xfrm>
          <a:prstGeom prst="roundRect">
            <a:avLst>
              <a:gd name="adj" fmla="val 5534"/>
            </a:avLst>
          </a:prstGeom>
          <a:solidFill>
            <a:srgbClr val="E1F5EE"/>
          </a:solidFill>
          <a:ln w="12700">
            <a:solidFill>
              <a:srgbClr val="0F6E56"/>
            </a:solidFill>
            <a:prstDash val="solid"/>
          </a:ln>
        </p:spPr>
      </p:sp>
      <p:sp>
        <p:nvSpPr>
          <p:cNvPr id="9" name="Text 7"/>
          <p:cNvSpPr/>
          <p:nvPr/>
        </p:nvSpPr>
        <p:spPr>
          <a:xfrm>
            <a:off x="6362700" y="275456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BM Plex Mono" pitchFamily="49" charset="0"/>
                <a:ea typeface="IBM Plex Mono" pitchFamily="49" charset="-122"/>
                <a:cs typeface="IBM Plex Mono" pitchFamily="49" charset="-120"/>
              </a:rPr>
              <a:t>NO · MISSION VOCABULARY</a:t>
            </a:r>
            <a:endParaRPr lang="en-US" sz="1200" dirty="0"/>
          </a:p>
        </p:txBody>
      </p:sp>
      <p:sp>
        <p:nvSpPr>
          <p:cNvPr id="10" name="Text 8"/>
          <p:cNvSpPr/>
          <p:nvPr/>
        </p:nvSpPr>
        <p:spPr>
          <a:xfrm>
            <a:off x="6362700" y="3031381"/>
            <a:ext cx="497078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85041"/>
                </a:solidFill>
                <a:latin typeface="IBM Plex Sans" pitchFamily="34" charset="0"/>
                <a:ea typeface="IBM Plex Sans" pitchFamily="34" charset="-122"/>
                <a:cs typeface="IBM Plex Sans" pitchFamily="34" charset="-120"/>
              </a:rPr>
              <a:t>Defined in the mission's namespace, registered, approved by mission governance, never shadowing an enterprise term. Example: cell, case, workflow stage.</a:t>
            </a:r>
            <a:endParaRPr lang="en-US" sz="1200" dirty="0"/>
          </a:p>
        </p:txBody>
      </p:sp>
      <p:sp>
        <p:nvSpPr>
          <p:cNvPr id="11" name="Shape 9"/>
          <p:cNvSpPr/>
          <p:nvPr/>
        </p:nvSpPr>
        <p:spPr>
          <a:xfrm>
            <a:off x="815975" y="3994646"/>
            <a:ext cx="3414167" cy="971500"/>
          </a:xfrm>
          <a:prstGeom prst="roundRect">
            <a:avLst>
              <a:gd name="adj" fmla="val 7517"/>
            </a:avLst>
          </a:prstGeom>
          <a:solidFill>
            <a:srgbClr val="FDFCFA"/>
          </a:solidFill>
          <a:ln w="6350">
            <a:solidFill>
              <a:srgbClr val="DEDBD2"/>
            </a:solidFill>
            <a:prstDash val="solid"/>
          </a:ln>
        </p:spPr>
      </p:sp>
      <p:sp>
        <p:nvSpPr>
          <p:cNvPr id="12" name="Text 10"/>
          <p:cNvSpPr/>
          <p:nvPr/>
        </p:nvSpPr>
        <p:spPr>
          <a:xfrm>
            <a:off x="996950" y="4150221"/>
            <a:ext cx="31437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E"/>
                </a:solidFill>
                <a:latin typeface="IBM Plex Sans" pitchFamily="34" charset="0"/>
                <a:ea typeface="IBM Plex Sans" pitchFamily="34" charset="-122"/>
                <a:cs typeface="IBM Plex Sans" pitchFamily="34" charset="-120"/>
              </a:rPr>
              <a:t>Delegated sub-vocabularies</a:t>
            </a:r>
            <a:endParaRPr lang="en-US" sz="1300" dirty="0"/>
          </a:p>
        </p:txBody>
      </p:sp>
      <p:sp>
        <p:nvSpPr>
          <p:cNvPr id="13" name="Text 11"/>
          <p:cNvSpPr/>
          <p:nvPr/>
        </p:nvSpPr>
        <p:spPr>
          <a:xfrm>
            <a:off x="996950" y="4399111"/>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ICAM owns the parent attribute; the mission manages its values, like a DNS subdomain.</a:t>
            </a:r>
            <a:endParaRPr lang="en-US" sz="1200" dirty="0"/>
          </a:p>
        </p:txBody>
      </p:sp>
      <p:sp>
        <p:nvSpPr>
          <p:cNvPr id="14" name="Shape 12"/>
          <p:cNvSpPr/>
          <p:nvPr/>
        </p:nvSpPr>
        <p:spPr>
          <a:xfrm>
            <a:off x="4388892" y="3994646"/>
            <a:ext cx="3414216" cy="971500"/>
          </a:xfrm>
          <a:prstGeom prst="roundRect">
            <a:avLst>
              <a:gd name="adj" fmla="val 7517"/>
            </a:avLst>
          </a:prstGeom>
          <a:solidFill>
            <a:srgbClr val="FDFCFA"/>
          </a:solidFill>
          <a:ln w="6350">
            <a:solidFill>
              <a:srgbClr val="DEDBD2"/>
            </a:solidFill>
            <a:prstDash val="solid"/>
          </a:ln>
        </p:spPr>
      </p:sp>
      <p:sp>
        <p:nvSpPr>
          <p:cNvPr id="15" name="Text 13"/>
          <p:cNvSpPr/>
          <p:nvPr/>
        </p:nvSpPr>
        <p:spPr>
          <a:xfrm>
            <a:off x="4569867" y="4150221"/>
            <a:ext cx="314383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E"/>
                </a:solidFill>
                <a:latin typeface="IBM Plex Sans" pitchFamily="34" charset="0"/>
                <a:ea typeface="IBM Plex Sans" pitchFamily="34" charset="-122"/>
                <a:cs typeface="IBM Plex Sans" pitchFamily="34" charset="-120"/>
              </a:rPr>
              <a:t>Provisional attributes</a:t>
            </a:r>
            <a:endParaRPr lang="en-US" sz="1300" dirty="0"/>
          </a:p>
        </p:txBody>
      </p:sp>
      <p:sp>
        <p:nvSpPr>
          <p:cNvPr id="16" name="Text 14"/>
          <p:cNvSpPr/>
          <p:nvPr/>
        </p:nvSpPr>
        <p:spPr>
          <a:xfrm>
            <a:off x="4569867" y="4399111"/>
            <a:ext cx="314383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Use a new mission attribute in restrictive rules now; nominate it for promotion later.</a:t>
            </a:r>
            <a:endParaRPr lang="en-US" sz="1200" dirty="0"/>
          </a:p>
        </p:txBody>
      </p:sp>
      <p:sp>
        <p:nvSpPr>
          <p:cNvPr id="17" name="Shape 15"/>
          <p:cNvSpPr/>
          <p:nvPr/>
        </p:nvSpPr>
        <p:spPr>
          <a:xfrm>
            <a:off x="7961858" y="3994646"/>
            <a:ext cx="3414167" cy="971500"/>
          </a:xfrm>
          <a:prstGeom prst="roundRect">
            <a:avLst>
              <a:gd name="adj" fmla="val 7517"/>
            </a:avLst>
          </a:prstGeom>
          <a:solidFill>
            <a:srgbClr val="FDFCFA"/>
          </a:solidFill>
          <a:ln w="6350">
            <a:solidFill>
              <a:srgbClr val="DEDBD2"/>
            </a:solidFill>
            <a:prstDash val="solid"/>
          </a:ln>
        </p:spPr>
      </p:sp>
      <p:sp>
        <p:nvSpPr>
          <p:cNvPr id="18" name="Text 16"/>
          <p:cNvSpPr/>
          <p:nvPr/>
        </p:nvSpPr>
        <p:spPr>
          <a:xfrm>
            <a:off x="8142833" y="4150221"/>
            <a:ext cx="31437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02E"/>
                </a:solidFill>
                <a:latin typeface="IBM Plex Sans" pitchFamily="34" charset="0"/>
                <a:ea typeface="IBM Plex Sans" pitchFamily="34" charset="-122"/>
                <a:cs typeface="IBM Plex Sans" pitchFamily="34" charset="-120"/>
              </a:rPr>
              <a:t>Predictable changes</a:t>
            </a:r>
            <a:endParaRPr lang="en-US" sz="1300" dirty="0"/>
          </a:p>
        </p:txBody>
      </p:sp>
      <p:sp>
        <p:nvSpPr>
          <p:cNvPr id="19" name="Text 17"/>
          <p:cNvSpPr/>
          <p:nvPr/>
        </p:nvSpPr>
        <p:spPr>
          <a:xfrm>
            <a:off x="8142833" y="4399111"/>
            <a:ext cx="31437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An agreed request process and turnaround for enterprise vocabulary changes.</a:t>
            </a:r>
            <a:endParaRPr lang="en-US" sz="12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16 / 32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The attribute catalog</a:t>
            </a:r>
            <a:endParaRPr lang="en-US" sz="3000" dirty="0"/>
          </a:p>
        </p:txBody>
      </p:sp>
      <p:sp>
        <p:nvSpPr>
          <p:cNvPr id="4" name="Shape 2"/>
          <p:cNvSpPr/>
          <p:nvPr/>
        </p:nvSpPr>
        <p:spPr>
          <a:xfrm>
            <a:off x="812800" y="1730970"/>
            <a:ext cx="10566400" cy="0"/>
          </a:xfrm>
          <a:prstGeom prst="line">
            <a:avLst/>
          </a:prstGeom>
          <a:noFill/>
          <a:ln w="12700">
            <a:solidFill>
              <a:srgbClr val="141413">
                <a:alpha val="22000"/>
              </a:srgbClr>
            </a:solidFill>
            <a:prstDash val="solid"/>
          </a:ln>
        </p:spPr>
      </p:sp>
      <p:sp>
        <p:nvSpPr>
          <p:cNvPr id="5" name="Shape 3"/>
          <p:cNvSpPr/>
          <p:nvPr/>
        </p:nvSpPr>
        <p:spPr>
          <a:xfrm>
            <a:off x="819150" y="1724620"/>
            <a:ext cx="0" cy="3987105"/>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788120"/>
          <a:ext cx="10350500" cy="3872805"/>
        </p:xfrm>
        <a:graphic>
          <a:graphicData uri="http://schemas.openxmlformats.org/drawingml/2006/table">
            <a:tbl>
              <a:tblPr/>
              <a:tblGrid>
                <a:gridCol w="2898140"/>
                <a:gridCol w="2898140"/>
                <a:gridCol w="2070100"/>
                <a:gridCol w="2484120"/>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Attribute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Arrives via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Usable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User identity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Enterprise 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Token claim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Both PDPs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Clearance and accesses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ICAM and 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PIP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mission read-only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Position assignment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5F5E5A"/>
                          </a:solidFill>
                          <a:latin typeface="IBM Plex Sans" pitchFamily="34" charset="0"/>
                          <a:ea typeface="IBM Plex Sans" pitchFamily="34" charset="-122"/>
                          <a:cs typeface="IBM Plex Sans" pitchFamily="34" charset="-120"/>
                        </a:rPr>
                        <a:t>HR and personnel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Token claim or PIP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Both PDPs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Authentication strength</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Enterprise 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Token claim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Both; mission for step-up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Access envelopes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Enterprise 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PIP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PDP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Classification markings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Vocabulary: security. Applied: steward shop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Resource metadata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Both PDPs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data tag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Steward policy shop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Resource metadata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PDP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role and cell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Steward policy shop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Gateway enrichment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restrict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Workflow or case state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5F5E5A"/>
                          </a:solidFill>
                          <a:latin typeface="IBM Plex Sans" pitchFamily="34" charset="0"/>
                          <a:ea typeface="IBM Plex Sans" pitchFamily="34" charset="-122"/>
                          <a:cs typeface="IBM Plex Sans" pitchFamily="34" charset="-120"/>
                        </a:rPr>
                        <a:t>Owning application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Resource metadata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restrict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Network zone and posture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534AB7"/>
                          </a:solidFill>
                          <a:latin typeface="IBM Plex Sans" pitchFamily="34" charset="0"/>
                          <a:ea typeface="IBM Plex Sans" pitchFamily="34" charset="-122"/>
                          <a:cs typeface="IBM Plex Sans" pitchFamily="34" charset="-120"/>
                        </a:rPr>
                        <a:t>Platform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Gateway context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Both PDPs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Illustrative; to be confirmed against systems of record in co-design</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17 / 32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 · RACI 1 OF 2</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Vocabulary, attributes, and envelopes</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3347145"/>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851620"/>
          <a:ext cx="10375900" cy="3207445"/>
        </p:xfrm>
        <a:graphic>
          <a:graphicData uri="http://schemas.openxmlformats.org/drawingml/2006/table">
            <a:tbl>
              <a:tblPr/>
              <a:tblGrid>
                <a:gridCol w="3527806"/>
                <a:gridCol w="1141349"/>
                <a:gridCol w="1141349"/>
                <a:gridCol w="1141349"/>
                <a:gridCol w="1141349"/>
                <a:gridCol w="1141349"/>
                <a:gridCol w="1141349"/>
              </a:tblGrid>
              <a:tr h="546001">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Activity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Steward shop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Mission eng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Platform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Gov 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Product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Define marking vocabulary and taxonomy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Maintain subject attributes of record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Approve mission adoption of the pattern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Request and justify access envelopes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Approve access envelopes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Apply resource markings and mission tags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Define mission-derived attributes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Maintain the attribute registry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534AB7"/>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R responsible · A accountable (one per row) · C consulted · I informed</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18 / 32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 · RACI 2 OF 2</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Policy, operations, and audit</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3347145"/>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851620"/>
          <a:ext cx="10375900" cy="3207445"/>
        </p:xfrm>
        <a:graphic>
          <a:graphicData uri="http://schemas.openxmlformats.org/drawingml/2006/table">
            <a:tbl>
              <a:tblPr/>
              <a:tblGrid>
                <a:gridCol w="3527806"/>
                <a:gridCol w="1141349"/>
                <a:gridCol w="1141349"/>
                <a:gridCol w="1141349"/>
                <a:gridCol w="1141349"/>
                <a:gridCol w="1141349"/>
                <a:gridCol w="1141349"/>
              </a:tblGrid>
              <a:tr h="546001">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Activity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Steward shop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Mission eng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Platform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Gov 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Product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Author mission policy intent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Implement and test policies in Cerbos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0F6E56"/>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Approve policy changes for release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534AB7"/>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Operate Tyk and the Cerbos runtime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534AB7"/>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Change the composition rule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Exercise the kill switch</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Integrate applications with the gateway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algn="ctr" indent="0" marL="0">
                        <a:lnSpc>
                          <a:spcPts val="1680"/>
                        </a:lnSpc>
                        <a:buNone/>
                      </a:pPr>
                      <a:r>
                        <a:rPr lang="en-US" sz="1200" dirty="0">
                          <a:solidFill>
                            <a:srgbClr val="5F5E5A"/>
                          </a:solidFill>
                          <a:latin typeface="IBM Plex Sans" pitchFamily="34" charset="0"/>
                          <a:ea typeface="IBM Plex Sans" pitchFamily="34" charset="-122"/>
                          <a:cs typeface="IBM Plex Sans" pitchFamily="34" charset="-120"/>
                        </a:rPr>
                        <a:t>A,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Review decision logs and audit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85FA5"/>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algn="ct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R responsible · A accountable (one per row) · C consulted · I informed</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19 / 32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Two deliberate separations of duty</a:t>
            </a:r>
            <a:endParaRPr lang="en-US" sz="3000" dirty="0"/>
          </a:p>
        </p:txBody>
      </p:sp>
      <p:sp>
        <p:nvSpPr>
          <p:cNvPr id="4" name="Shape 2"/>
          <p:cNvSpPr/>
          <p:nvPr/>
        </p:nvSpPr>
        <p:spPr>
          <a:xfrm>
            <a:off x="815975" y="1778595"/>
            <a:ext cx="5175250" cy="2317601"/>
          </a:xfrm>
          <a:prstGeom prst="roundRect">
            <a:avLst>
              <a:gd name="adj" fmla="val 3151"/>
            </a:avLst>
          </a:prstGeom>
          <a:solidFill>
            <a:srgbClr val="FDFCFA"/>
          </a:solidFill>
          <a:ln w="6350">
            <a:solidFill>
              <a:srgbClr val="DEDBD2"/>
            </a:solidFill>
            <a:prstDash val="solid"/>
          </a:ln>
        </p:spPr>
      </p:sp>
      <p:sp>
        <p:nvSpPr>
          <p:cNvPr id="5" name="Text 3"/>
          <p:cNvSpPr/>
          <p:nvPr/>
        </p:nvSpPr>
        <p:spPr>
          <a:xfrm>
            <a:off x="1073150" y="20357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E"/>
                </a:solidFill>
                <a:latin typeface="IBM Plex Sans" pitchFamily="34" charset="0"/>
                <a:ea typeface="IBM Plex Sans" pitchFamily="34" charset="-122"/>
                <a:cs typeface="IBM Plex Sans" pitchFamily="34" charset="-120"/>
              </a:rPr>
              <a:t>Writing is not approving</a:t>
            </a:r>
            <a:endParaRPr lang="en-US" sz="2000" dirty="0"/>
          </a:p>
        </p:txBody>
      </p:sp>
      <p:sp>
        <p:nvSpPr>
          <p:cNvPr id="6" name="Text 4"/>
          <p:cNvSpPr/>
          <p:nvPr/>
        </p:nvSpPr>
        <p:spPr>
          <a:xfrm>
            <a:off x="1073150" y="2467570"/>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44B"/>
                </a:solidFill>
                <a:latin typeface="IBM Plex Sans" pitchFamily="34" charset="0"/>
                <a:ea typeface="IBM Plex Sans" pitchFamily="34" charset="-122"/>
                <a:cs typeface="IBM Plex Sans" pitchFamily="34" charset="-120"/>
              </a:rPr>
              <a:t>The steward policy shop writes mission policy. The engineering governance board approves its release.</a:t>
            </a:r>
            <a:endParaRPr lang="en-US" sz="1400" dirty="0"/>
          </a:p>
        </p:txBody>
      </p:sp>
      <p:sp>
        <p:nvSpPr>
          <p:cNvPr id="7" name="Text 5"/>
          <p:cNvSpPr/>
          <p:nvPr/>
        </p:nvSpPr>
        <p:spPr>
          <a:xfrm>
            <a:off x="1073150" y="3092351"/>
            <a:ext cx="48007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IBM Plex Sans" pitchFamily="34" charset="0"/>
                <a:ea typeface="IBM Plex Sans" pitchFamily="34" charset="-122"/>
                <a:cs typeface="IBM Plex Sans" pitchFamily="34" charset="-120"/>
              </a:rPr>
              <a:t>No single group both writes and approves a rule.</a:t>
            </a:r>
            <a:endParaRPr lang="en-US" sz="1400" dirty="0"/>
          </a:p>
        </p:txBody>
      </p:sp>
      <p:sp>
        <p:nvSpPr>
          <p:cNvPr id="8" name="Shape 6"/>
          <p:cNvSpPr/>
          <p:nvPr/>
        </p:nvSpPr>
        <p:spPr>
          <a:xfrm>
            <a:off x="6200775" y="1778595"/>
            <a:ext cx="5175250" cy="2317601"/>
          </a:xfrm>
          <a:prstGeom prst="roundRect">
            <a:avLst>
              <a:gd name="adj" fmla="val 3151"/>
            </a:avLst>
          </a:prstGeom>
          <a:solidFill>
            <a:srgbClr val="FDFCFA"/>
          </a:solidFill>
          <a:ln w="6350">
            <a:solidFill>
              <a:srgbClr val="DEDBD2"/>
            </a:solidFill>
            <a:prstDash val="solid"/>
          </a:ln>
        </p:spPr>
      </p:sp>
      <p:sp>
        <p:nvSpPr>
          <p:cNvPr id="9" name="Text 7"/>
          <p:cNvSpPr/>
          <p:nvPr/>
        </p:nvSpPr>
        <p:spPr>
          <a:xfrm>
            <a:off x="6457950" y="20357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E"/>
                </a:solidFill>
                <a:latin typeface="IBM Plex Sans" pitchFamily="34" charset="0"/>
                <a:ea typeface="IBM Plex Sans" pitchFamily="34" charset="-122"/>
                <a:cs typeface="IBM Plex Sans" pitchFamily="34" charset="-120"/>
              </a:rPr>
              <a:t>Operating is not authorizing</a:t>
            </a:r>
            <a:endParaRPr lang="en-US" sz="2000" dirty="0"/>
          </a:p>
        </p:txBody>
      </p:sp>
      <p:sp>
        <p:nvSpPr>
          <p:cNvPr id="10" name="Text 8"/>
          <p:cNvSpPr/>
          <p:nvPr/>
        </p:nvSpPr>
        <p:spPr>
          <a:xfrm>
            <a:off x="6457950" y="2467570"/>
            <a:ext cx="480072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44B"/>
                </a:solidFill>
                <a:latin typeface="IBM Plex Sans" pitchFamily="34" charset="0"/>
                <a:ea typeface="IBM Plex Sans" pitchFamily="34" charset="-122"/>
                <a:cs typeface="IBM Plex Sans" pitchFamily="34" charset="-120"/>
              </a:rPr>
              <a:t>The platform team runs the composition rule and kill switch. Only enterprise ICAM can authorize changing or using them.</a:t>
            </a:r>
            <a:endParaRPr lang="en-US" sz="1400" dirty="0"/>
          </a:p>
        </p:txBody>
      </p:sp>
      <p:sp>
        <p:nvSpPr>
          <p:cNvPr id="11" name="Text 9"/>
          <p:cNvSpPr/>
          <p:nvPr/>
        </p:nvSpPr>
        <p:spPr>
          <a:xfrm>
            <a:off x="6457950" y="3341241"/>
            <a:ext cx="480072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5FA5"/>
                </a:solidFill>
                <a:latin typeface="IBM Plex Sans" pitchFamily="34" charset="0"/>
                <a:ea typeface="IBM Plex Sans" pitchFamily="34" charset="-122"/>
                <a:cs typeface="IBM Plex Sans" pitchFamily="34" charset="-120"/>
              </a:rPr>
              <a:t>Controls that affect enterprise access are never self-governed.</a:t>
            </a:r>
            <a:endParaRPr lang="en-US" sz="1400" dirty="0"/>
          </a:p>
        </p:txBody>
      </p:sp>
      <p:sp>
        <p:nvSpPr>
          <p:cNvPr id="12" name="Text 10"/>
          <p:cNvSpPr/>
          <p:nvPr/>
        </p:nvSpPr>
        <p:spPr>
          <a:xfrm>
            <a:off x="812800" y="4353371"/>
            <a:ext cx="10566400" cy="568920"/>
          </a:xfrm>
          <a:prstGeom prst="roundRect">
            <a:avLst>
              <a:gd name="adj" fmla="val 8929"/>
            </a:avLst>
          </a:prstGeom>
          <a:solidFill>
            <a:srgbClr val="E6F1FB"/>
          </a:solidFill>
          <a:ln/>
        </p:spPr>
        <p:txBody>
          <a:bodyPr wrap="square" lIns="239121" tIns="137521" rIns="0" bIns="112121" rtlCol="0" anchor="t">
            <a:normAutofit/>
          </a:bodyPr>
          <a:lstStyle/>
          <a:p>
            <a:pPr algn="l" indent="0" marL="0">
              <a:lnSpc>
                <a:spcPts val="2080"/>
              </a:lnSpc>
              <a:buNone/>
            </a:pPr>
            <a:r>
              <a:rPr lang="en-US" sz="1600" dirty="0">
                <a:solidFill>
                  <a:srgbClr val="14202E"/>
                </a:solidFill>
                <a:latin typeface="IBM Plex Sans" pitchFamily="34" charset="0"/>
                <a:ea typeface="IBM Plex Sans" pitchFamily="34" charset="-122"/>
                <a:cs typeface="IBM Plex Sans" pitchFamily="34" charset="-120"/>
              </a:rPr>
              <a:t>During initial rollout, enterprise ICAM also approves every mission policy.</a:t>
            </a:r>
            <a:endParaRPr lang="en-US" sz="1600" dirty="0"/>
          </a:p>
        </p:txBody>
      </p:sp>
      <p:sp>
        <p:nvSpPr>
          <p:cNvPr id="13" name="Shape 11"/>
          <p:cNvSpPr/>
          <p:nvPr/>
        </p:nvSpPr>
        <p:spPr>
          <a:xfrm>
            <a:off x="812800" y="4353371"/>
            <a:ext cx="10566400" cy="568920"/>
          </a:xfrm>
          <a:custGeom>
            <a:avLst/>
            <a:gdLst/>
            <a:ahLst/>
            <a:cxnLst/>
            <a:rect l="l" t="t" r="r" b="b"/>
            <a:pathLst>
              <a:path w="10566400" h="568920">
                <a:moveTo>
                  <a:pt x="50800" y="568920"/>
                </a:moveTo>
                <a:lnTo>
                  <a:pt x="50800" y="568920"/>
                </a:lnTo>
                <a:arcTo hR="50800" wR="50800" stAng="5400000" swAng="5400000"/>
                <a:lnTo>
                  <a:pt x="0" y="50800"/>
                </a:lnTo>
                <a:arcTo hR="50800" wR="50800" stAng="10800000" swAng="5400000"/>
                <a:lnTo>
                  <a:pt x="50800" y="0"/>
                </a:lnTo>
                <a:lnTo>
                  <a:pt x="50800" y="568920"/>
                </a:lnTo>
                <a:close/>
              </a:path>
            </a:pathLst>
          </a:custGeom>
          <a:solidFill>
            <a:srgbClr val="185FA5"/>
          </a:solidFill>
          <a:ln/>
        </p:spPr>
      </p:sp>
      <p:sp>
        <p:nvSpPr>
          <p:cNvPr id="14"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20 / 32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GOVERNANCE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Across missions: share attributes, not policies</a:t>
            </a:r>
            <a:endParaRPr lang="en-US" sz="3000" dirty="0"/>
          </a:p>
        </p:txBody>
      </p:sp>
      <p:sp>
        <p:nvSpPr>
          <p:cNvPr id="4" name="Text 2"/>
          <p:cNvSpPr/>
          <p:nvPr/>
        </p:nvSpPr>
        <p:spPr>
          <a:xfrm>
            <a:off x="812800" y="1775420"/>
            <a:ext cx="53108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How attributes are exposed</a:t>
            </a:r>
            <a:endParaRPr lang="en-US" sz="1600" dirty="0"/>
          </a:p>
        </p:txBody>
      </p:sp>
      <p:sp>
        <p:nvSpPr>
          <p:cNvPr id="5" name="Shape 3"/>
          <p:cNvSpPr/>
          <p:nvPr/>
        </p:nvSpPr>
        <p:spPr>
          <a:xfrm>
            <a:off x="825500" y="2171650"/>
            <a:ext cx="0" cy="664170"/>
          </a:xfrm>
          <a:prstGeom prst="line">
            <a:avLst/>
          </a:prstGeom>
          <a:noFill/>
          <a:ln w="25400">
            <a:solidFill>
              <a:srgbClr val="534AB7"/>
            </a:solidFill>
            <a:prstDash val="solid"/>
          </a:ln>
        </p:spPr>
      </p:sp>
      <p:sp>
        <p:nvSpPr>
          <p:cNvPr id="6" name="Text 4"/>
          <p:cNvSpPr/>
          <p:nvPr/>
        </p:nvSpPr>
        <p:spPr>
          <a:xfrm>
            <a:off x="990600" y="2171650"/>
            <a:ext cx="512775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A governed attribute service</a:t>
            </a:r>
            <a:endParaRPr lang="en-US" sz="1300" dirty="0"/>
          </a:p>
        </p:txBody>
      </p:sp>
      <p:sp>
        <p:nvSpPr>
          <p:cNvPr id="7" name="Text 5"/>
          <p:cNvSpPr/>
          <p:nvPr/>
        </p:nvSpPr>
        <p:spPr>
          <a:xfrm>
            <a:off x="990600" y="2424361"/>
            <a:ext cx="512775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 read API through Tyk, called with STS-exchanged service tokens. It enforces its own authorization.</a:t>
            </a:r>
            <a:endParaRPr lang="en-US" sz="1200" dirty="0"/>
          </a:p>
        </p:txBody>
      </p:sp>
      <p:sp>
        <p:nvSpPr>
          <p:cNvPr id="8" name="Shape 6"/>
          <p:cNvSpPr/>
          <p:nvPr/>
        </p:nvSpPr>
        <p:spPr>
          <a:xfrm>
            <a:off x="825500" y="2988221"/>
            <a:ext cx="0" cy="458440"/>
          </a:xfrm>
          <a:prstGeom prst="line">
            <a:avLst/>
          </a:prstGeom>
          <a:noFill/>
          <a:ln w="25400">
            <a:solidFill>
              <a:srgbClr val="534AB7"/>
            </a:solidFill>
            <a:prstDash val="solid"/>
          </a:ln>
        </p:spPr>
      </p:sp>
      <p:sp>
        <p:nvSpPr>
          <p:cNvPr id="9" name="Text 7"/>
          <p:cNvSpPr/>
          <p:nvPr/>
        </p:nvSpPr>
        <p:spPr>
          <a:xfrm>
            <a:off x="990600" y="2988221"/>
            <a:ext cx="512775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Change events for caching consumers</a:t>
            </a:r>
            <a:endParaRPr lang="en-US" sz="1300" dirty="0"/>
          </a:p>
        </p:txBody>
      </p:sp>
      <p:sp>
        <p:nvSpPr>
          <p:cNvPr id="10" name="Text 8"/>
          <p:cNvSpPr/>
          <p:nvPr/>
        </p:nvSpPr>
        <p:spPr>
          <a:xfrm>
            <a:off x="990600" y="3240931"/>
            <a:ext cx="512775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Freshness expectations are stated in the attribute registry.</a:t>
            </a:r>
            <a:endParaRPr lang="en-US" sz="1200" dirty="0"/>
          </a:p>
        </p:txBody>
      </p:sp>
      <p:sp>
        <p:nvSpPr>
          <p:cNvPr id="11" name="Shape 9"/>
          <p:cNvSpPr/>
          <p:nvPr/>
        </p:nvSpPr>
        <p:spPr>
          <a:xfrm>
            <a:off x="825500" y="3599061"/>
            <a:ext cx="0" cy="458440"/>
          </a:xfrm>
          <a:prstGeom prst="line">
            <a:avLst/>
          </a:prstGeom>
          <a:noFill/>
          <a:ln w="25400">
            <a:solidFill>
              <a:srgbClr val="534AB7"/>
            </a:solidFill>
            <a:prstDash val="solid"/>
          </a:ln>
        </p:spPr>
      </p:sp>
      <p:sp>
        <p:nvSpPr>
          <p:cNvPr id="12" name="Text 10"/>
          <p:cNvSpPr/>
          <p:nvPr/>
        </p:nvSpPr>
        <p:spPr>
          <a:xfrm>
            <a:off x="990600" y="3599061"/>
            <a:ext cx="512775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Not through the enterprise token</a:t>
            </a:r>
            <a:endParaRPr lang="en-US" sz="1300" dirty="0"/>
          </a:p>
        </p:txBody>
      </p:sp>
      <p:sp>
        <p:nvSpPr>
          <p:cNvPr id="13" name="Text 11"/>
          <p:cNvSpPr/>
          <p:nvPr/>
        </p:nvSpPr>
        <p:spPr>
          <a:xfrm>
            <a:off x="990600" y="3851771"/>
            <a:ext cx="512775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Mission attributes join STS tokens only if ICAM formally adopts them.</a:t>
            </a:r>
            <a:endParaRPr lang="en-US" sz="1200" dirty="0"/>
          </a:p>
        </p:txBody>
      </p:sp>
      <p:sp>
        <p:nvSpPr>
          <p:cNvPr id="14" name="Text 12"/>
          <p:cNvSpPr/>
          <p:nvPr/>
        </p:nvSpPr>
        <p:spPr>
          <a:xfrm>
            <a:off x="6223000" y="1775420"/>
            <a:ext cx="53108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2E"/>
                </a:solidFill>
                <a:latin typeface="IBM Plex Sans" pitchFamily="34" charset="0"/>
                <a:ea typeface="IBM Plex Sans" pitchFamily="34" charset="-122"/>
                <a:cs typeface="IBM Plex Sans" pitchFamily="34" charset="-120"/>
              </a:rPr>
              <a:t>Attributes versus decisions</a:t>
            </a:r>
            <a:endParaRPr lang="en-US" sz="1600" dirty="0"/>
          </a:p>
        </p:txBody>
      </p:sp>
      <p:sp>
        <p:nvSpPr>
          <p:cNvPr id="15" name="Shape 13"/>
          <p:cNvSpPr/>
          <p:nvPr/>
        </p:nvSpPr>
        <p:spPr>
          <a:xfrm>
            <a:off x="6229350" y="2178000"/>
            <a:ext cx="5143500" cy="839440"/>
          </a:xfrm>
          <a:prstGeom prst="roundRect">
            <a:avLst>
              <a:gd name="adj" fmla="val 8321"/>
            </a:avLst>
          </a:prstGeom>
          <a:solidFill>
            <a:srgbClr val="E1F5EE"/>
          </a:solidFill>
          <a:ln w="12700">
            <a:solidFill>
              <a:srgbClr val="0F6E56"/>
            </a:solidFill>
            <a:prstDash val="solid"/>
          </a:ln>
        </p:spPr>
      </p:sp>
      <p:sp>
        <p:nvSpPr>
          <p:cNvPr id="16" name="Text 14"/>
          <p:cNvSpPr/>
          <p:nvPr/>
        </p:nvSpPr>
        <p:spPr>
          <a:xfrm>
            <a:off x="6413500" y="2362150"/>
            <a:ext cx="4918456"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85041"/>
                </a:solidFill>
                <a:latin typeface="IBM Plex Sans" pitchFamily="34" charset="0"/>
                <a:ea typeface="IBM Plex Sans" pitchFamily="34" charset="-122"/>
                <a:cs typeface="IBM Plex Sans" pitchFamily="34" charset="-120"/>
              </a:rPr>
              <a:t>Need context for your own rules?</a:t>
            </a:r>
            <a:endParaRPr lang="en-US" sz="1300" dirty="0"/>
          </a:p>
        </p:txBody>
      </p:sp>
      <p:sp>
        <p:nvSpPr>
          <p:cNvPr id="17" name="Text 15"/>
          <p:cNvSpPr/>
          <p:nvPr/>
        </p:nvSpPr>
        <p:spPr>
          <a:xfrm>
            <a:off x="6413500" y="2627561"/>
            <a:ext cx="4953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85041"/>
                </a:solidFill>
                <a:latin typeface="IBM Plex Sans" pitchFamily="34" charset="0"/>
                <a:ea typeface="IBM Plex Sans" pitchFamily="34" charset="-122"/>
                <a:cs typeface="IBM Plex Sans" pitchFamily="34" charset="-120"/>
              </a:rPr>
              <a:t>We share the attribute. Example: is this user in an active mission cell?</a:t>
            </a:r>
            <a:endParaRPr lang="en-US" sz="1200" dirty="0"/>
          </a:p>
        </p:txBody>
      </p:sp>
      <p:sp>
        <p:nvSpPr>
          <p:cNvPr id="18" name="Shape 16"/>
          <p:cNvSpPr/>
          <p:nvPr/>
        </p:nvSpPr>
        <p:spPr>
          <a:xfrm>
            <a:off x="6229350" y="3182541"/>
            <a:ext cx="5143500" cy="1045170"/>
          </a:xfrm>
          <a:prstGeom prst="roundRect">
            <a:avLst>
              <a:gd name="adj" fmla="val 6683"/>
            </a:avLst>
          </a:prstGeom>
          <a:solidFill>
            <a:srgbClr val="E6F1FB"/>
          </a:solidFill>
          <a:ln w="12700">
            <a:solidFill>
              <a:srgbClr val="185FA5"/>
            </a:solidFill>
            <a:prstDash val="solid"/>
          </a:ln>
        </p:spPr>
      </p:sp>
      <p:sp>
        <p:nvSpPr>
          <p:cNvPr id="19" name="Text 17"/>
          <p:cNvSpPr/>
          <p:nvPr/>
        </p:nvSpPr>
        <p:spPr>
          <a:xfrm>
            <a:off x="6413500" y="3366691"/>
            <a:ext cx="4918456"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C447C"/>
                </a:solidFill>
                <a:latin typeface="IBM Plex Sans" pitchFamily="34" charset="0"/>
                <a:ea typeface="IBM Plex Sans" pitchFamily="34" charset="-122"/>
                <a:cs typeface="IBM Plex Sans" pitchFamily="34" charset="-120"/>
              </a:rPr>
              <a:t>Asking about our resources?</a:t>
            </a:r>
            <a:endParaRPr lang="en-US" sz="1300" dirty="0"/>
          </a:p>
        </p:txBody>
      </p:sp>
      <p:sp>
        <p:nvSpPr>
          <p:cNvPr id="20" name="Text 18"/>
          <p:cNvSpPr/>
          <p:nvPr/>
        </p:nvSpPr>
        <p:spPr>
          <a:xfrm>
            <a:off x="6413500" y="3632101"/>
            <a:ext cx="4918456"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447C"/>
                </a:solidFill>
                <a:latin typeface="IBM Plex Sans" pitchFamily="34" charset="0"/>
                <a:ea typeface="IBM Plex Sans" pitchFamily="34" charset="-122"/>
                <a:cs typeface="IBM Plex Sans" pitchFamily="34" charset="-120"/>
              </a:rPr>
              <a:t>Ask our PDP through AuthZEN. The enterprise and every relevant mission must permit; each can only narrow.</a:t>
            </a:r>
            <a:endParaRPr lang="en-US" sz="1200" dirty="0"/>
          </a:p>
        </p:txBody>
      </p:sp>
      <p:sp>
        <p:nvSpPr>
          <p:cNvPr id="21" name="Text 1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21 / 32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ASSURANCE · 1 OF 2</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Anticipated objections</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2920504"/>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877020"/>
          <a:ext cx="10325100" cy="2730004"/>
        </p:xfrm>
        <a:graphic>
          <a:graphicData uri="http://schemas.openxmlformats.org/drawingml/2006/table">
            <a:tbl>
              <a:tblPr/>
              <a:tblGrid>
                <a:gridCol w="3304032"/>
                <a:gridCol w="7021068"/>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Objection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Response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This creates a parallel IAM system.</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The mission layer issues no identities, mints no tokens, and grants nothing. It refines access only within ICAM-approved envelopes, under one pattern ICAM governs.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75932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The mission layer could grant what the enterprise denied.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The enterprise decides first. Deny-overrides lives in the gateway, not in mission policy, and CI tests on every change verify no mission permit overrides an enterprise deny. ICAM controls the composition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We lose visibility.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ICAM gains it. Every decision logs both verdicts with a correlation ID, covering mission-level access ICAM cannot see 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Every mission will build its own.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Adoption is gated by ICAM approval. All missions use one pattern and one registry, and widely used attributes graduate to the enterprise catalog.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22 / 32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ASSURANCE · 2 OF 2</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Anticipated objections</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2707184"/>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877020"/>
          <a:ext cx="10325100" cy="2516684"/>
        </p:xfrm>
        <a:graphic>
          <a:graphicData uri="http://schemas.openxmlformats.org/drawingml/2006/table">
            <a:tbl>
              <a:tblPr/>
              <a:tblGrid>
                <a:gridCol w="3304032"/>
                <a:gridCol w="7021068"/>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Objection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Response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This bypasses our entitlement process.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New access still requires an ICAM-approved envelope through the existing process. Only refinements inside approved envelopes move to missions.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This puts our ATO at risk.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The pattern maps to existing controls, runs in shadow mode before it enforces anything, and completes an independent security assessment before enforcement.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teams lack policy expertise.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Intent comes from the steward policy shop, implementation and tests from mission engineering, release approval from the governance board, and, initially, ICAM approval of every 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Open source carries support and supply-chain risk.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Tyk (MPL 2.0) and Cerbos (Apache 2.0) are self-hosted, version-pinned, and scanned through standard supply-chain controls. Commercial support exists if required.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23 / 32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ASSURANCE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Mapped to NIST SP 800-53 Rev. 5</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3133824"/>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851620"/>
          <a:ext cx="10325100" cy="2994124"/>
        </p:xfrm>
        <a:graphic>
          <a:graphicData uri="http://schemas.openxmlformats.org/drawingml/2006/table">
            <a:tbl>
              <a:tblPr/>
              <a:tblGrid>
                <a:gridCol w="3304032"/>
                <a:gridCol w="7021068"/>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Control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How the pattern addresses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AC-3 Access enforcement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Tyk enforces the composed decision on every request; apps carry no authorization logic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AC-6 Least privilege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rules narrow access within enterprise-approved envelopes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AC-16 Security and privacy attributes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One authoritative source per attribute; governed registry; schema-enforced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AC-24 Access control decisions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Two standardized PDPs, deny-overrides composition, enterprise evaluated first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AU-2, AU-12 Event logging and audit records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Both verdicts logged per request under one correlation ID, available to ICAM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CA-7 Continuous monitoring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Decision logs and shadow-mode divergence reports provide ongoing 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CM-3 Configuration change control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policies change only through tested, reviewed, approved releases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IA-2 Identification and authentication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STS and MFA unchanged as the sole identity source; step-up raises assurance for sensitive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Preliminary; to be validated with the ISSO and authorizing official</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24 / 32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ASSURANCE</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Risks and mitigations</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3108424"/>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851620"/>
          <a:ext cx="10325100" cy="2968724"/>
        </p:xfrm>
        <a:graphic>
          <a:graphicData uri="http://schemas.openxmlformats.org/drawingml/2006/table">
            <a:tbl>
              <a:tblPr/>
              <a:tblGrid>
                <a:gridCol w="3097530"/>
                <a:gridCol w="7227570"/>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Mitigation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policy widens access by mistake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Deny-overrides in the gateway; enterprise evaluated first; CI-tested policies; ICAM controls the composition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Added latency from two decisions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Short-circuit on enterprise deny; Cerbos deployed beside the gateway; batch evaluation for permission-heavy interfaces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Gateway becomes a single point of failure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Highly available Tyk replicas; fail closed on decision point errors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Plugin maintenance burden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Plugins built in CI against each gateway version as part of the upgrade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Business logic creeps into the gateway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Gateway code limited to validate, ask, compose, and log; changes reviewed against that boundary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Stale claims in long sessions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Short-lived tokens; enterprise PDP authoritative for revocation; Shared Signals and CAEP if ICAM supports them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25 / 32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DELIVERY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Rollout earns trust in stages</a:t>
            </a:r>
            <a:endParaRPr lang="en-US" sz="3000" dirty="0"/>
          </a:p>
        </p:txBody>
      </p:sp>
      <p:sp>
        <p:nvSpPr>
          <p:cNvPr id="4" name="Shape 2"/>
          <p:cNvSpPr/>
          <p:nvPr/>
        </p:nvSpPr>
        <p:spPr>
          <a:xfrm>
            <a:off x="815975" y="1778595"/>
            <a:ext cx="2520950" cy="3214142"/>
          </a:xfrm>
          <a:prstGeom prst="roundRect">
            <a:avLst>
              <a:gd name="adj" fmla="val 2897"/>
            </a:avLst>
          </a:prstGeom>
          <a:solidFill>
            <a:srgbClr val="FDFCFA"/>
          </a:solidFill>
          <a:ln w="6350">
            <a:solidFill>
              <a:srgbClr val="DEDBD2"/>
            </a:solidFill>
            <a:prstDash val="solid"/>
          </a:ln>
        </p:spPr>
      </p:sp>
      <p:sp>
        <p:nvSpPr>
          <p:cNvPr id="5" name="Text 3"/>
          <p:cNvSpPr/>
          <p:nvPr/>
        </p:nvSpPr>
        <p:spPr>
          <a:xfrm>
            <a:off x="9969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PHASE 0</a:t>
            </a:r>
            <a:endParaRPr lang="en-US" sz="1200" dirty="0"/>
          </a:p>
        </p:txBody>
      </p:sp>
      <p:sp>
        <p:nvSpPr>
          <p:cNvPr id="6" name="Text 4"/>
          <p:cNvSpPr/>
          <p:nvPr/>
        </p:nvSpPr>
        <p:spPr>
          <a:xfrm>
            <a:off x="996950" y="22490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Co-design</a:t>
            </a:r>
            <a:endParaRPr lang="en-US" sz="1400" dirty="0"/>
          </a:p>
        </p:txBody>
      </p:sp>
      <p:sp>
        <p:nvSpPr>
          <p:cNvPr id="7" name="Text 5"/>
          <p:cNvSpPr/>
          <p:nvPr/>
        </p:nvSpPr>
        <p:spPr>
          <a:xfrm>
            <a:off x="996950" y="2538611"/>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ICAM and the mission jointly review the architecture, composition rule, and registry.</a:t>
            </a:r>
            <a:endParaRPr lang="en-US" sz="1200" dirty="0"/>
          </a:p>
        </p:txBody>
      </p:sp>
      <p:sp>
        <p:nvSpPr>
          <p:cNvPr id="8" name="Text 6"/>
          <p:cNvSpPr/>
          <p:nvPr/>
        </p:nvSpPr>
        <p:spPr>
          <a:xfrm>
            <a:off x="996950" y="328280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ICAM ROLE</a:t>
            </a:r>
            <a:endParaRPr lang="en-US" sz="1200" dirty="0"/>
          </a:p>
        </p:txBody>
      </p:sp>
      <p:sp>
        <p:nvSpPr>
          <p:cNvPr id="9" name="Text 7"/>
          <p:cNvSpPr/>
          <p:nvPr/>
        </p:nvSpPr>
        <p:spPr>
          <a:xfrm>
            <a:off x="996950" y="3572321"/>
            <a:ext cx="222377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Co-author and red team</a:t>
            </a:r>
            <a:endParaRPr lang="en-US" sz="1200" dirty="0"/>
          </a:p>
        </p:txBody>
      </p:sp>
      <p:sp>
        <p:nvSpPr>
          <p:cNvPr id="10" name="Text 8"/>
          <p:cNvSpPr/>
          <p:nvPr/>
        </p:nvSpPr>
        <p:spPr>
          <a:xfrm>
            <a:off x="996950" y="390505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EXIT</a:t>
            </a:r>
            <a:endParaRPr lang="en-US" sz="1200" dirty="0"/>
          </a:p>
        </p:txBody>
      </p:sp>
      <p:sp>
        <p:nvSpPr>
          <p:cNvPr id="11" name="Text 9"/>
          <p:cNvSpPr/>
          <p:nvPr/>
        </p:nvSpPr>
        <p:spPr>
          <a:xfrm>
            <a:off x="996950" y="4194572"/>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ICAM concurrence on the design</a:t>
            </a:r>
            <a:endParaRPr lang="en-US" sz="1200" dirty="0"/>
          </a:p>
        </p:txBody>
      </p:sp>
      <p:sp>
        <p:nvSpPr>
          <p:cNvPr id="12" name="Shape 10"/>
          <p:cNvSpPr/>
          <p:nvPr/>
        </p:nvSpPr>
        <p:spPr>
          <a:xfrm>
            <a:off x="3495675" y="1778595"/>
            <a:ext cx="2520950" cy="3214142"/>
          </a:xfrm>
          <a:prstGeom prst="roundRect">
            <a:avLst>
              <a:gd name="adj" fmla="val 2897"/>
            </a:avLst>
          </a:prstGeom>
          <a:solidFill>
            <a:srgbClr val="FDFCFA"/>
          </a:solidFill>
          <a:ln w="6350">
            <a:solidFill>
              <a:srgbClr val="DEDBD2"/>
            </a:solidFill>
            <a:prstDash val="solid"/>
          </a:ln>
        </p:spPr>
      </p:sp>
      <p:sp>
        <p:nvSpPr>
          <p:cNvPr id="13" name="Text 11"/>
          <p:cNvSpPr/>
          <p:nvPr/>
        </p:nvSpPr>
        <p:spPr>
          <a:xfrm>
            <a:off x="36766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PHASE 1</a:t>
            </a:r>
            <a:endParaRPr lang="en-US" sz="1200" dirty="0"/>
          </a:p>
        </p:txBody>
      </p:sp>
      <p:sp>
        <p:nvSpPr>
          <p:cNvPr id="14" name="Text 12"/>
          <p:cNvSpPr/>
          <p:nvPr/>
        </p:nvSpPr>
        <p:spPr>
          <a:xfrm>
            <a:off x="3676650" y="22490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Shadow mode</a:t>
            </a:r>
            <a:endParaRPr lang="en-US" sz="1400" dirty="0"/>
          </a:p>
        </p:txBody>
      </p:sp>
      <p:sp>
        <p:nvSpPr>
          <p:cNvPr id="15" name="Text 13"/>
          <p:cNvSpPr/>
          <p:nvPr/>
        </p:nvSpPr>
        <p:spPr>
          <a:xfrm>
            <a:off x="3676650" y="2538611"/>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Tyk enforces the enterprise decision only. Cerbos decisions are logged, not enforced.</a:t>
            </a:r>
            <a:endParaRPr lang="en-US" sz="1200" dirty="0"/>
          </a:p>
        </p:txBody>
      </p:sp>
      <p:sp>
        <p:nvSpPr>
          <p:cNvPr id="16" name="Text 14"/>
          <p:cNvSpPr/>
          <p:nvPr/>
        </p:nvSpPr>
        <p:spPr>
          <a:xfrm>
            <a:off x="3676650" y="328280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ICAM ROLE</a:t>
            </a:r>
            <a:endParaRPr lang="en-US" sz="1200" dirty="0"/>
          </a:p>
        </p:txBody>
      </p:sp>
      <p:sp>
        <p:nvSpPr>
          <p:cNvPr id="17" name="Text 15"/>
          <p:cNvSpPr/>
          <p:nvPr/>
        </p:nvSpPr>
        <p:spPr>
          <a:xfrm>
            <a:off x="3676650" y="3572321"/>
            <a:ext cx="222377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Reviews divergence reports</a:t>
            </a:r>
            <a:endParaRPr lang="en-US" sz="1200" dirty="0"/>
          </a:p>
        </p:txBody>
      </p:sp>
      <p:sp>
        <p:nvSpPr>
          <p:cNvPr id="18" name="Text 16"/>
          <p:cNvSpPr/>
          <p:nvPr/>
        </p:nvSpPr>
        <p:spPr>
          <a:xfrm>
            <a:off x="3676650" y="390505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EXIT</a:t>
            </a:r>
            <a:endParaRPr lang="en-US" sz="1200" dirty="0"/>
          </a:p>
        </p:txBody>
      </p:sp>
      <p:sp>
        <p:nvSpPr>
          <p:cNvPr id="19" name="Text 17"/>
          <p:cNvSpPr/>
          <p:nvPr/>
        </p:nvSpPr>
        <p:spPr>
          <a:xfrm>
            <a:off x="3676650" y="4194572"/>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Every divergence reviewed and accepted</a:t>
            </a:r>
            <a:endParaRPr lang="en-US" sz="1200" dirty="0"/>
          </a:p>
        </p:txBody>
      </p:sp>
      <p:sp>
        <p:nvSpPr>
          <p:cNvPr id="20" name="Shape 18"/>
          <p:cNvSpPr/>
          <p:nvPr/>
        </p:nvSpPr>
        <p:spPr>
          <a:xfrm>
            <a:off x="6175375" y="1778595"/>
            <a:ext cx="2520950" cy="3214142"/>
          </a:xfrm>
          <a:prstGeom prst="roundRect">
            <a:avLst>
              <a:gd name="adj" fmla="val 2897"/>
            </a:avLst>
          </a:prstGeom>
          <a:solidFill>
            <a:srgbClr val="FDFCFA"/>
          </a:solidFill>
          <a:ln w="6350">
            <a:solidFill>
              <a:srgbClr val="DEDBD2"/>
            </a:solidFill>
            <a:prstDash val="solid"/>
          </a:ln>
        </p:spPr>
      </p:sp>
      <p:sp>
        <p:nvSpPr>
          <p:cNvPr id="21" name="Text 19"/>
          <p:cNvSpPr/>
          <p:nvPr/>
        </p:nvSpPr>
        <p:spPr>
          <a:xfrm>
            <a:off x="63563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PHASE 2</a:t>
            </a:r>
            <a:endParaRPr lang="en-US" sz="1200" dirty="0"/>
          </a:p>
        </p:txBody>
      </p:sp>
      <p:sp>
        <p:nvSpPr>
          <p:cNvPr id="22" name="Text 20"/>
          <p:cNvSpPr/>
          <p:nvPr/>
        </p:nvSpPr>
        <p:spPr>
          <a:xfrm>
            <a:off x="6356350" y="22490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Limited enforcement</a:t>
            </a:r>
            <a:endParaRPr lang="en-US" sz="1400" dirty="0"/>
          </a:p>
        </p:txBody>
      </p:sp>
      <p:sp>
        <p:nvSpPr>
          <p:cNvPr id="23" name="Text 21"/>
          <p:cNvSpPr/>
          <p:nvPr/>
        </p:nvSpPr>
        <p:spPr>
          <a:xfrm>
            <a:off x="6356350" y="2538611"/>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One mission, one use case, mission decisions enforced.</a:t>
            </a:r>
            <a:endParaRPr lang="en-US" sz="1200" dirty="0"/>
          </a:p>
        </p:txBody>
      </p:sp>
      <p:sp>
        <p:nvSpPr>
          <p:cNvPr id="24" name="Text 22"/>
          <p:cNvSpPr/>
          <p:nvPr/>
        </p:nvSpPr>
        <p:spPr>
          <a:xfrm>
            <a:off x="6356350" y="307707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ICAM ROLE</a:t>
            </a:r>
            <a:endParaRPr lang="en-US" sz="1200" dirty="0"/>
          </a:p>
        </p:txBody>
      </p:sp>
      <p:sp>
        <p:nvSpPr>
          <p:cNvPr id="25" name="Text 23"/>
          <p:cNvSpPr/>
          <p:nvPr/>
        </p:nvSpPr>
        <p:spPr>
          <a:xfrm>
            <a:off x="6356350" y="3366591"/>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Approves every mission policy; holds the kill switch</a:t>
            </a:r>
            <a:endParaRPr lang="en-US" sz="1200" dirty="0"/>
          </a:p>
        </p:txBody>
      </p:sp>
      <p:sp>
        <p:nvSpPr>
          <p:cNvPr id="26" name="Text 24"/>
          <p:cNvSpPr/>
          <p:nvPr/>
        </p:nvSpPr>
        <p:spPr>
          <a:xfrm>
            <a:off x="6356350" y="390505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EXIT</a:t>
            </a:r>
            <a:endParaRPr lang="en-US" sz="1200" dirty="0"/>
          </a:p>
        </p:txBody>
      </p:sp>
      <p:sp>
        <p:nvSpPr>
          <p:cNvPr id="27" name="Text 25"/>
          <p:cNvSpPr/>
          <p:nvPr/>
        </p:nvSpPr>
        <p:spPr>
          <a:xfrm>
            <a:off x="6356350" y="4194572"/>
            <a:ext cx="222377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Pilot measures met; independent security assessment complete</a:t>
            </a:r>
            <a:endParaRPr lang="en-US" sz="1200" dirty="0"/>
          </a:p>
        </p:txBody>
      </p:sp>
      <p:sp>
        <p:nvSpPr>
          <p:cNvPr id="28" name="Shape 26"/>
          <p:cNvSpPr/>
          <p:nvPr/>
        </p:nvSpPr>
        <p:spPr>
          <a:xfrm>
            <a:off x="8855075" y="1778595"/>
            <a:ext cx="2520950" cy="3214142"/>
          </a:xfrm>
          <a:prstGeom prst="roundRect">
            <a:avLst>
              <a:gd name="adj" fmla="val 2897"/>
            </a:avLst>
          </a:prstGeom>
          <a:solidFill>
            <a:srgbClr val="FDFCFA"/>
          </a:solidFill>
          <a:ln w="6350">
            <a:solidFill>
              <a:srgbClr val="DEDBD2"/>
            </a:solidFill>
            <a:prstDash val="solid"/>
          </a:ln>
        </p:spPr>
      </p:sp>
      <p:sp>
        <p:nvSpPr>
          <p:cNvPr id="29" name="Text 27"/>
          <p:cNvSpPr/>
          <p:nvPr/>
        </p:nvSpPr>
        <p:spPr>
          <a:xfrm>
            <a:off x="9036050" y="19595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A64"/>
                </a:solidFill>
                <a:latin typeface="IBM Plex Mono" pitchFamily="49" charset="0"/>
                <a:ea typeface="IBM Plex Mono" pitchFamily="49" charset="-122"/>
                <a:cs typeface="IBM Plex Mono" pitchFamily="49" charset="-120"/>
              </a:rPr>
              <a:t>PHASE 3</a:t>
            </a:r>
            <a:endParaRPr lang="en-US" sz="1200" dirty="0"/>
          </a:p>
        </p:txBody>
      </p:sp>
      <p:sp>
        <p:nvSpPr>
          <p:cNvPr id="30" name="Text 28"/>
          <p:cNvSpPr/>
          <p:nvPr/>
        </p:nvSpPr>
        <p:spPr>
          <a:xfrm>
            <a:off x="9036050" y="2249091"/>
            <a:ext cx="22237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02E"/>
                </a:solidFill>
                <a:latin typeface="IBM Plex Sans" pitchFamily="34" charset="0"/>
                <a:ea typeface="IBM Plex Sans" pitchFamily="34" charset="-122"/>
                <a:cs typeface="IBM Plex Sans" pitchFamily="34" charset="-120"/>
              </a:rPr>
              <a:t>Steady state</a:t>
            </a:r>
            <a:endParaRPr lang="en-US" sz="1400" dirty="0"/>
          </a:p>
        </p:txBody>
      </p:sp>
      <p:sp>
        <p:nvSpPr>
          <p:cNvPr id="31" name="Text 29"/>
          <p:cNvSpPr/>
          <p:nvPr/>
        </p:nvSpPr>
        <p:spPr>
          <a:xfrm>
            <a:off x="9036050" y="2538611"/>
            <a:ext cx="222377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Release approval moves to the governance board. More missions adopt by ICAM decision.</a:t>
            </a:r>
            <a:endParaRPr lang="en-US" sz="1200" dirty="0"/>
          </a:p>
        </p:txBody>
      </p:sp>
      <p:sp>
        <p:nvSpPr>
          <p:cNvPr id="32" name="Text 30"/>
          <p:cNvSpPr/>
          <p:nvPr/>
        </p:nvSpPr>
        <p:spPr>
          <a:xfrm>
            <a:off x="9036050" y="348853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ICAM ROLE</a:t>
            </a:r>
            <a:endParaRPr lang="en-US" sz="1200" dirty="0"/>
          </a:p>
        </p:txBody>
      </p:sp>
      <p:sp>
        <p:nvSpPr>
          <p:cNvPr id="33" name="Text 31"/>
          <p:cNvSpPr/>
          <p:nvPr/>
        </p:nvSpPr>
        <p:spPr>
          <a:xfrm>
            <a:off x="9036050" y="3778052"/>
            <a:ext cx="222377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Samples policies; approves new missions and envelopes</a:t>
            </a:r>
            <a:endParaRPr lang="en-US" sz="1200" dirty="0"/>
          </a:p>
        </p:txBody>
      </p:sp>
      <p:sp>
        <p:nvSpPr>
          <p:cNvPr id="34" name="Text 32"/>
          <p:cNvSpPr/>
          <p:nvPr/>
        </p:nvSpPr>
        <p:spPr>
          <a:xfrm>
            <a:off x="9036050" y="4316512"/>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EXIT</a:t>
            </a:r>
            <a:endParaRPr lang="en-US" sz="1200" dirty="0"/>
          </a:p>
        </p:txBody>
      </p:sp>
      <p:sp>
        <p:nvSpPr>
          <p:cNvPr id="35" name="Text 33"/>
          <p:cNvSpPr/>
          <p:nvPr/>
        </p:nvSpPr>
        <p:spPr>
          <a:xfrm>
            <a:off x="9036050" y="4606032"/>
            <a:ext cx="222377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Ongoing</a:t>
            </a:r>
            <a:endParaRPr lang="en-US" sz="1200" dirty="0"/>
          </a:p>
        </p:txBody>
      </p:sp>
      <p:sp>
        <p:nvSpPr>
          <p:cNvPr id="36" name="Text 3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Enterprise ICAM holds the kill switch at every phase</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26 / 32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DELIVERY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How the pilot is judged</a:t>
            </a:r>
            <a:endParaRPr lang="en-US" sz="3000" dirty="0"/>
          </a:p>
        </p:txBody>
      </p:sp>
      <p:sp>
        <p:nvSpPr>
          <p:cNvPr id="4" name="Shape 2"/>
          <p:cNvSpPr/>
          <p:nvPr/>
        </p:nvSpPr>
        <p:spPr>
          <a:xfrm>
            <a:off x="815975" y="1778595"/>
            <a:ext cx="2520950" cy="1502370"/>
          </a:xfrm>
          <a:prstGeom prst="roundRect">
            <a:avLst>
              <a:gd name="adj" fmla="val 4861"/>
            </a:avLst>
          </a:prstGeom>
          <a:solidFill>
            <a:srgbClr val="FDFCFA"/>
          </a:solidFill>
          <a:ln w="6350">
            <a:solidFill>
              <a:srgbClr val="DEDBD2"/>
            </a:solidFill>
            <a:prstDash val="solid"/>
          </a:ln>
        </p:spPr>
      </p:sp>
      <p:pic>
        <p:nvPicPr>
          <p:cNvPr id="5" name="Image 0" descr="Clock">    </p:cNvPr>
          <p:cNvPicPr>
            <a:picLocks noChangeAspect="1"/>
          </p:cNvPicPr>
          <p:nvPr/>
        </p:nvPicPr>
        <p:blipFill>
          <a:blip r:embed="rId1"/>
          <a:srcRect l="0" r="0" t="0" b="0"/>
          <a:stretch/>
        </p:blipFill>
        <p:spPr>
          <a:xfrm>
            <a:off x="996950" y="1959570"/>
            <a:ext cx="304800" cy="304800"/>
          </a:xfrm>
          <a:prstGeom prst="rect">
            <a:avLst/>
          </a:prstGeom>
        </p:spPr>
      </p:pic>
      <p:sp>
        <p:nvSpPr>
          <p:cNvPr id="6" name="Text 3"/>
          <p:cNvSpPr/>
          <p:nvPr/>
        </p:nvSpPr>
        <p:spPr>
          <a:xfrm>
            <a:off x="996950" y="2353270"/>
            <a:ext cx="222377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Time to deliver a new rule inside an envelope</a:t>
            </a:r>
            <a:endParaRPr lang="en-US" sz="1400" dirty="0"/>
          </a:p>
        </p:txBody>
      </p:sp>
      <p:sp>
        <p:nvSpPr>
          <p:cNvPr id="7" name="Text 4"/>
          <p:cNvSpPr/>
          <p:nvPr/>
        </p:nvSpPr>
        <p:spPr>
          <a:xfrm>
            <a:off x="996950" y="28866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Target: [__]</a:t>
            </a:r>
            <a:endParaRPr lang="en-US" sz="1200" dirty="0"/>
          </a:p>
        </p:txBody>
      </p:sp>
      <p:sp>
        <p:nvSpPr>
          <p:cNvPr id="8" name="Shape 5"/>
          <p:cNvSpPr/>
          <p:nvPr/>
        </p:nvSpPr>
        <p:spPr>
          <a:xfrm>
            <a:off x="3495675" y="1778595"/>
            <a:ext cx="2520950" cy="1502370"/>
          </a:xfrm>
          <a:prstGeom prst="roundRect">
            <a:avLst>
              <a:gd name="adj" fmla="val 4861"/>
            </a:avLst>
          </a:prstGeom>
          <a:solidFill>
            <a:srgbClr val="FDFCFA"/>
          </a:solidFill>
          <a:ln w="6350">
            <a:solidFill>
              <a:srgbClr val="DEDBD2"/>
            </a:solidFill>
            <a:prstDash val="solid"/>
          </a:ln>
        </p:spPr>
      </p:sp>
      <p:pic>
        <p:nvPicPr>
          <p:cNvPr id="9" name="Image 1" descr="Users">    </p:cNvPr>
          <p:cNvPicPr>
            <a:picLocks noChangeAspect="1"/>
          </p:cNvPicPr>
          <p:nvPr/>
        </p:nvPicPr>
        <p:blipFill>
          <a:blip r:embed="rId2"/>
          <a:srcRect l="0" r="0" t="0" b="0"/>
          <a:stretch/>
        </p:blipFill>
        <p:spPr>
          <a:xfrm>
            <a:off x="3676650" y="1959570"/>
            <a:ext cx="304800" cy="304800"/>
          </a:xfrm>
          <a:prstGeom prst="rect">
            <a:avLst/>
          </a:prstGeom>
        </p:spPr>
      </p:pic>
      <p:sp>
        <p:nvSpPr>
          <p:cNvPr id="10" name="Text 6"/>
          <p:cNvSpPr/>
          <p:nvPr/>
        </p:nvSpPr>
        <p:spPr>
          <a:xfrm>
            <a:off x="3676650" y="2353270"/>
            <a:ext cx="222377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Per-use-case entitlement requests reaching ICAM</a:t>
            </a:r>
            <a:endParaRPr lang="en-US" sz="1400" dirty="0"/>
          </a:p>
        </p:txBody>
      </p:sp>
      <p:sp>
        <p:nvSpPr>
          <p:cNvPr id="11" name="Text 7"/>
          <p:cNvSpPr/>
          <p:nvPr/>
        </p:nvSpPr>
        <p:spPr>
          <a:xfrm>
            <a:off x="3676650" y="28866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Target: [__]</a:t>
            </a:r>
            <a:endParaRPr lang="en-US" sz="1200" dirty="0"/>
          </a:p>
        </p:txBody>
      </p:sp>
      <p:sp>
        <p:nvSpPr>
          <p:cNvPr id="12" name="Shape 8"/>
          <p:cNvSpPr/>
          <p:nvPr/>
        </p:nvSpPr>
        <p:spPr>
          <a:xfrm>
            <a:off x="6175375" y="1778595"/>
            <a:ext cx="2520950" cy="1502370"/>
          </a:xfrm>
          <a:prstGeom prst="roundRect">
            <a:avLst>
              <a:gd name="adj" fmla="val 4861"/>
            </a:avLst>
          </a:prstGeom>
          <a:solidFill>
            <a:srgbClr val="FDFCFA"/>
          </a:solidFill>
          <a:ln w="6350">
            <a:solidFill>
              <a:srgbClr val="DEDBD2"/>
            </a:solidFill>
            <a:prstDash val="solid"/>
          </a:ln>
        </p:spPr>
      </p:sp>
      <p:pic>
        <p:nvPicPr>
          <p:cNvPr id="13" name="Image 2" descr="Lightning">    </p:cNvPr>
          <p:cNvPicPr>
            <a:picLocks noChangeAspect="1"/>
          </p:cNvPicPr>
          <p:nvPr/>
        </p:nvPicPr>
        <p:blipFill>
          <a:blip r:embed="rId3"/>
          <a:srcRect l="0" r="0" t="0" b="0"/>
          <a:stretch/>
        </p:blipFill>
        <p:spPr>
          <a:xfrm>
            <a:off x="6356350" y="1959570"/>
            <a:ext cx="304800" cy="304800"/>
          </a:xfrm>
          <a:prstGeom prst="rect">
            <a:avLst/>
          </a:prstGeom>
        </p:spPr>
      </p:pic>
      <p:sp>
        <p:nvSpPr>
          <p:cNvPr id="14" name="Text 9"/>
          <p:cNvSpPr/>
          <p:nvPr/>
        </p:nvSpPr>
        <p:spPr>
          <a:xfrm>
            <a:off x="6356350" y="2353270"/>
            <a:ext cx="222377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End-to-end decision latency</a:t>
            </a:r>
            <a:endParaRPr lang="en-US" sz="1400" dirty="0"/>
          </a:p>
        </p:txBody>
      </p:sp>
      <p:sp>
        <p:nvSpPr>
          <p:cNvPr id="15" name="Text 10"/>
          <p:cNvSpPr/>
          <p:nvPr/>
        </p:nvSpPr>
        <p:spPr>
          <a:xfrm>
            <a:off x="6356350" y="288667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Target: [__]</a:t>
            </a:r>
            <a:endParaRPr lang="en-US" sz="1200" dirty="0"/>
          </a:p>
        </p:txBody>
      </p:sp>
      <p:sp>
        <p:nvSpPr>
          <p:cNvPr id="16" name="Shape 11"/>
          <p:cNvSpPr/>
          <p:nvPr/>
        </p:nvSpPr>
        <p:spPr>
          <a:xfrm>
            <a:off x="8855075" y="1778595"/>
            <a:ext cx="2520950" cy="1502370"/>
          </a:xfrm>
          <a:prstGeom prst="roundRect">
            <a:avLst>
              <a:gd name="adj" fmla="val 4861"/>
            </a:avLst>
          </a:prstGeom>
          <a:solidFill>
            <a:srgbClr val="FDFCFA"/>
          </a:solidFill>
          <a:ln w="6350">
            <a:solidFill>
              <a:srgbClr val="DEDBD2"/>
            </a:solidFill>
            <a:prstDash val="solid"/>
          </a:ln>
        </p:spPr>
      </p:sp>
      <p:pic>
        <p:nvPicPr>
          <p:cNvPr id="17" name="Image 3" descr="Verified">    </p:cNvPr>
          <p:cNvPicPr>
            <a:picLocks noChangeAspect="1"/>
          </p:cNvPicPr>
          <p:nvPr/>
        </p:nvPicPr>
        <p:blipFill>
          <a:blip r:embed="rId4"/>
          <a:srcRect l="0" r="0" t="0" b="0"/>
          <a:stretch/>
        </p:blipFill>
        <p:spPr>
          <a:xfrm>
            <a:off x="9036050" y="1959570"/>
            <a:ext cx="304800" cy="304800"/>
          </a:xfrm>
          <a:prstGeom prst="rect">
            <a:avLst/>
          </a:prstGeom>
        </p:spPr>
      </p:pic>
      <p:sp>
        <p:nvSpPr>
          <p:cNvPr id="18" name="Text 12"/>
          <p:cNvSpPr/>
          <p:nvPr/>
        </p:nvSpPr>
        <p:spPr>
          <a:xfrm>
            <a:off x="9036050" y="2353270"/>
            <a:ext cx="22237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E"/>
                </a:solidFill>
                <a:latin typeface="IBM Plex Sans" pitchFamily="34" charset="0"/>
                <a:ea typeface="IBM Plex Sans" pitchFamily="34" charset="-122"/>
                <a:cs typeface="IBM Plex Sans" pitchFamily="34" charset="-120"/>
              </a:rPr>
              <a:t>Audit completeness</a:t>
            </a:r>
            <a:endParaRPr lang="en-US" sz="1400" dirty="0"/>
          </a:p>
        </p:txBody>
      </p:sp>
      <p:sp>
        <p:nvSpPr>
          <p:cNvPr id="19" name="Text 13"/>
          <p:cNvSpPr/>
          <p:nvPr/>
        </p:nvSpPr>
        <p:spPr>
          <a:xfrm>
            <a:off x="9036050" y="266442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Target: [__]</a:t>
            </a:r>
            <a:endParaRPr lang="en-US" sz="1200" dirty="0"/>
          </a:p>
        </p:txBody>
      </p:sp>
      <p:sp>
        <p:nvSpPr>
          <p:cNvPr id="20" name="Text 14"/>
          <p:cNvSpPr/>
          <p:nvPr/>
        </p:nvSpPr>
        <p:spPr>
          <a:xfrm>
            <a:off x="812800" y="3538141"/>
            <a:ext cx="108833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F444B"/>
                </a:solidFill>
                <a:latin typeface="IBM Plex Sans" pitchFamily="34" charset="0"/>
                <a:ea typeface="IBM Plex Sans" pitchFamily="34" charset="-122"/>
                <a:cs typeface="IBM Plex Sans" pitchFamily="34" charset="-120"/>
              </a:rPr>
              <a:t>Each measure is compared to today's baseline.</a:t>
            </a:r>
            <a:endParaRPr lang="en-US" sz="1300" dirty="0"/>
          </a:p>
        </p:txBody>
      </p:sp>
      <p:sp>
        <p:nvSpPr>
          <p:cNvPr id="21" name="Shape 15"/>
          <p:cNvSpPr/>
          <p:nvPr/>
        </p:nvSpPr>
        <p:spPr>
          <a:xfrm>
            <a:off x="812800" y="4014986"/>
            <a:ext cx="10566400" cy="792460"/>
          </a:xfrm>
          <a:prstGeom prst="roundRect">
            <a:avLst>
              <a:gd name="adj" fmla="val 9616"/>
            </a:avLst>
          </a:prstGeom>
          <a:solidFill>
            <a:srgbClr val="14202E"/>
          </a:solidFill>
          <a:ln/>
        </p:spPr>
      </p:sp>
      <p:sp>
        <p:nvSpPr>
          <p:cNvPr id="22" name="Text 16"/>
          <p:cNvSpPr/>
          <p:nvPr/>
        </p:nvSpPr>
        <p:spPr>
          <a:xfrm>
            <a:off x="1066800" y="4243586"/>
            <a:ext cx="233710"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5B9BE0"/>
                </a:solidFill>
                <a:latin typeface="IBM Plex Mono" pitchFamily="49" charset="0"/>
                <a:ea typeface="IBM Plex Mono" pitchFamily="49" charset="-122"/>
                <a:cs typeface="IBM Plex Mono" pitchFamily="49" charset="-120"/>
              </a:rPr>
              <a:t>0</a:t>
            </a:r>
            <a:endParaRPr lang="en-US" sz="2400" dirty="0"/>
          </a:p>
        </p:txBody>
      </p:sp>
      <p:sp>
        <p:nvSpPr>
          <p:cNvPr id="23" name="Text 17"/>
          <p:cNvSpPr/>
          <p:nvPr/>
        </p:nvSpPr>
        <p:spPr>
          <a:xfrm>
            <a:off x="1452910" y="4279156"/>
            <a:ext cx="9962459"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F0EA"/>
                </a:solidFill>
                <a:latin typeface="IBM Plex Sans" pitchFamily="34" charset="0"/>
                <a:ea typeface="IBM Plex Sans" pitchFamily="34" charset="-122"/>
                <a:cs typeface="IBM Plex Sans" pitchFamily="34" charset="-120"/>
              </a:rPr>
              <a:t>Zero tolerance for any decision where the mission layer permitted what the enterprise denied.</a:t>
            </a:r>
            <a:endParaRPr lang="en-US" sz="1600" dirty="0"/>
          </a:p>
        </p:txBody>
      </p:sp>
      <p:sp>
        <p:nvSpPr>
          <p:cNvPr id="24"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5"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27 / 32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DELIVERY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Why Tyk Gateway and Cerbos</a:t>
            </a:r>
            <a:endParaRPr lang="en-US" sz="3000" dirty="0"/>
          </a:p>
        </p:txBody>
      </p:sp>
      <p:sp>
        <p:nvSpPr>
          <p:cNvPr id="4" name="Text 2"/>
          <p:cNvSpPr/>
          <p:nvPr/>
        </p:nvSpPr>
        <p:spPr>
          <a:xfrm>
            <a:off x="812800" y="1775420"/>
            <a:ext cx="6074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BM Plex Mono" pitchFamily="49" charset="0"/>
                <a:ea typeface="IBM Plex Mono" pitchFamily="49" charset="-122"/>
                <a:cs typeface="IBM Plex Mono" pitchFamily="49" charset="-120"/>
              </a:rPr>
              <a:t>TYK GATEWAY · MPL 2.0 · ENFORCEMENT POINT</a:t>
            </a:r>
            <a:endParaRPr lang="en-US" sz="1200" dirty="0"/>
          </a:p>
        </p:txBody>
      </p:sp>
      <p:sp>
        <p:nvSpPr>
          <p:cNvPr id="5" name="Shape 3"/>
          <p:cNvSpPr/>
          <p:nvPr/>
        </p:nvSpPr>
        <p:spPr>
          <a:xfrm>
            <a:off x="825500" y="2115741"/>
            <a:ext cx="0" cy="651470"/>
          </a:xfrm>
          <a:prstGeom prst="line">
            <a:avLst/>
          </a:prstGeom>
          <a:noFill/>
          <a:ln w="25400">
            <a:solidFill>
              <a:srgbClr val="534AB7"/>
            </a:solidFill>
            <a:prstDash val="solid"/>
          </a:ln>
        </p:spPr>
      </p:sp>
      <p:sp>
        <p:nvSpPr>
          <p:cNvPr id="6" name="Text 4"/>
          <p:cNvSpPr/>
          <p:nvPr/>
        </p:nvSpPr>
        <p:spPr>
          <a:xfrm>
            <a:off x="990600" y="2115741"/>
            <a:ext cx="589166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Open source and self-hosted</a:t>
            </a:r>
            <a:endParaRPr lang="en-US" sz="1300" dirty="0"/>
          </a:p>
        </p:txBody>
      </p:sp>
      <p:sp>
        <p:nvSpPr>
          <p:cNvPr id="7" name="Text 5"/>
          <p:cNvSpPr/>
          <p:nvPr/>
        </p:nvSpPr>
        <p:spPr>
          <a:xfrm>
            <a:off x="990600" y="2355751"/>
            <a:ext cx="58916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Runs entirely inside our environment, which matters given our restrictions on external SaaS.</a:t>
            </a:r>
            <a:endParaRPr lang="en-US" sz="1200" dirty="0"/>
          </a:p>
        </p:txBody>
      </p:sp>
      <p:sp>
        <p:nvSpPr>
          <p:cNvPr id="8" name="Shape 6"/>
          <p:cNvSpPr/>
          <p:nvPr/>
        </p:nvSpPr>
        <p:spPr>
          <a:xfrm>
            <a:off x="825500" y="2894211"/>
            <a:ext cx="0" cy="651470"/>
          </a:xfrm>
          <a:prstGeom prst="line">
            <a:avLst/>
          </a:prstGeom>
          <a:noFill/>
          <a:ln w="25400">
            <a:solidFill>
              <a:srgbClr val="534AB7"/>
            </a:solidFill>
            <a:prstDash val="solid"/>
          </a:ln>
        </p:spPr>
      </p:sp>
      <p:sp>
        <p:nvSpPr>
          <p:cNvPr id="9" name="Text 7"/>
          <p:cNvSpPr/>
          <p:nvPr/>
        </p:nvSpPr>
        <p:spPr>
          <a:xfrm>
            <a:off x="990600" y="2894211"/>
            <a:ext cx="589166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Native identity handling</a:t>
            </a:r>
            <a:endParaRPr lang="en-US" sz="1300" dirty="0"/>
          </a:p>
        </p:txBody>
      </p:sp>
      <p:sp>
        <p:nvSpPr>
          <p:cNvPr id="10" name="Text 8"/>
          <p:cNvSpPr/>
          <p:nvPr/>
        </p:nvSpPr>
        <p:spPr>
          <a:xfrm>
            <a:off x="990600" y="3134221"/>
            <a:ext cx="58916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OIDC and JWT validation against the enterprise STS are built in. No custom token code.</a:t>
            </a:r>
            <a:endParaRPr lang="en-US" sz="1200" dirty="0"/>
          </a:p>
        </p:txBody>
      </p:sp>
      <p:sp>
        <p:nvSpPr>
          <p:cNvPr id="11" name="Shape 9"/>
          <p:cNvSpPr/>
          <p:nvPr/>
        </p:nvSpPr>
        <p:spPr>
          <a:xfrm>
            <a:off x="825500" y="3672681"/>
            <a:ext cx="0" cy="445740"/>
          </a:xfrm>
          <a:prstGeom prst="line">
            <a:avLst/>
          </a:prstGeom>
          <a:noFill/>
          <a:ln w="25400">
            <a:solidFill>
              <a:srgbClr val="534AB7"/>
            </a:solidFill>
            <a:prstDash val="solid"/>
          </a:ln>
        </p:spPr>
      </p:sp>
      <p:sp>
        <p:nvSpPr>
          <p:cNvPr id="12" name="Text 10"/>
          <p:cNvSpPr/>
          <p:nvPr/>
        </p:nvSpPr>
        <p:spPr>
          <a:xfrm>
            <a:off x="990600" y="3672681"/>
            <a:ext cx="589166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AuthZEN-ready</a:t>
            </a:r>
            <a:endParaRPr lang="en-US" sz="1300" dirty="0"/>
          </a:p>
        </p:txBody>
      </p:sp>
      <p:sp>
        <p:nvSpPr>
          <p:cNvPr id="13" name="Text 11"/>
          <p:cNvSpPr/>
          <p:nvPr/>
        </p:nvSpPr>
        <p:spPr>
          <a:xfrm>
            <a:off x="990600" y="3912691"/>
            <a:ext cx="589166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An AuthZEN plugin, maintained through OpenID Foundation interop work.</a:t>
            </a:r>
            <a:endParaRPr lang="en-US" sz="1200" dirty="0"/>
          </a:p>
        </p:txBody>
      </p:sp>
      <p:sp>
        <p:nvSpPr>
          <p:cNvPr id="14" name="Shape 12"/>
          <p:cNvSpPr/>
          <p:nvPr/>
        </p:nvSpPr>
        <p:spPr>
          <a:xfrm>
            <a:off x="825500" y="4245421"/>
            <a:ext cx="0" cy="651470"/>
          </a:xfrm>
          <a:prstGeom prst="line">
            <a:avLst/>
          </a:prstGeom>
          <a:noFill/>
          <a:ln w="25400">
            <a:solidFill>
              <a:srgbClr val="534AB7"/>
            </a:solidFill>
            <a:prstDash val="solid"/>
          </a:ln>
        </p:spPr>
      </p:sp>
      <p:sp>
        <p:nvSpPr>
          <p:cNvPr id="15" name="Text 13"/>
          <p:cNvSpPr/>
          <p:nvPr/>
        </p:nvSpPr>
        <p:spPr>
          <a:xfrm>
            <a:off x="990600" y="4245421"/>
            <a:ext cx="589166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Extensible middleware</a:t>
            </a:r>
            <a:endParaRPr lang="en-US" sz="1300" dirty="0"/>
          </a:p>
        </p:txBody>
      </p:sp>
      <p:sp>
        <p:nvSpPr>
          <p:cNvPr id="16" name="Text 14"/>
          <p:cNvSpPr/>
          <p:nvPr/>
        </p:nvSpPr>
        <p:spPr>
          <a:xfrm>
            <a:off x="990600" y="4485432"/>
            <a:ext cx="58916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Plugins in Go, Python, JavaScript, or any gRPC language for composition and logging.</a:t>
            </a:r>
            <a:endParaRPr lang="en-US" sz="1200" dirty="0"/>
          </a:p>
        </p:txBody>
      </p:sp>
      <p:sp>
        <p:nvSpPr>
          <p:cNvPr id="17" name="Shape 15"/>
          <p:cNvSpPr/>
          <p:nvPr/>
        </p:nvSpPr>
        <p:spPr>
          <a:xfrm>
            <a:off x="825500" y="5023892"/>
            <a:ext cx="0" cy="651470"/>
          </a:xfrm>
          <a:prstGeom prst="line">
            <a:avLst/>
          </a:prstGeom>
          <a:noFill/>
          <a:ln w="25400">
            <a:solidFill>
              <a:srgbClr val="534AB7"/>
            </a:solidFill>
            <a:prstDash val="solid"/>
          </a:ln>
        </p:spPr>
      </p:sp>
      <p:sp>
        <p:nvSpPr>
          <p:cNvPr id="18" name="Text 16"/>
          <p:cNvSpPr/>
          <p:nvPr/>
        </p:nvSpPr>
        <p:spPr>
          <a:xfrm>
            <a:off x="990600" y="5023892"/>
            <a:ext cx="5891662"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4202E"/>
                </a:solidFill>
                <a:latin typeface="IBM Plex Sans" pitchFamily="34" charset="0"/>
                <a:ea typeface="IBM Plex Sans" pitchFamily="34" charset="-122"/>
                <a:cs typeface="IBM Plex Sans" pitchFamily="34" charset="-120"/>
              </a:rPr>
              <a:t>Declarative operations</a:t>
            </a:r>
            <a:endParaRPr lang="en-US" sz="1300" dirty="0"/>
          </a:p>
        </p:txBody>
      </p:sp>
      <p:sp>
        <p:nvSpPr>
          <p:cNvPr id="19" name="Text 17"/>
          <p:cNvSpPr/>
          <p:nvPr/>
        </p:nvSpPr>
        <p:spPr>
          <a:xfrm>
            <a:off x="990600" y="5263902"/>
            <a:ext cx="589166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44B"/>
                </a:solidFill>
                <a:latin typeface="IBM Plex Sans" pitchFamily="34" charset="0"/>
                <a:ea typeface="IBM Plex Sans" pitchFamily="34" charset="-122"/>
                <a:cs typeface="IBM Plex Sans" pitchFamily="34" charset="-120"/>
              </a:rPr>
              <a:t>API definitions and policies as code through Tyk Operator, fitting our GitOps practice.</a:t>
            </a:r>
            <a:endParaRPr lang="en-US" sz="1200" dirty="0"/>
          </a:p>
        </p:txBody>
      </p:sp>
      <p:sp>
        <p:nvSpPr>
          <p:cNvPr id="20" name="Shape 18"/>
          <p:cNvSpPr/>
          <p:nvPr/>
        </p:nvSpPr>
        <p:spPr>
          <a:xfrm>
            <a:off x="6971010" y="1781770"/>
            <a:ext cx="4401840" cy="3887242"/>
          </a:xfrm>
          <a:prstGeom prst="roundRect">
            <a:avLst>
              <a:gd name="adj" fmla="val 1797"/>
            </a:avLst>
          </a:prstGeom>
          <a:solidFill>
            <a:srgbClr val="E1F5EE"/>
          </a:solidFill>
          <a:ln w="12700">
            <a:solidFill>
              <a:srgbClr val="0F6E56"/>
            </a:solidFill>
            <a:prstDash val="solid"/>
          </a:ln>
        </p:spPr>
      </p:sp>
      <p:sp>
        <p:nvSpPr>
          <p:cNvPr id="21" name="Text 19"/>
          <p:cNvSpPr/>
          <p:nvPr/>
        </p:nvSpPr>
        <p:spPr>
          <a:xfrm>
            <a:off x="7205960" y="2016720"/>
            <a:ext cx="4049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BM Plex Mono" pitchFamily="49" charset="0"/>
                <a:ea typeface="IBM Plex Mono" pitchFamily="49" charset="-122"/>
                <a:cs typeface="IBM Plex Mono" pitchFamily="49" charset="-120"/>
              </a:rPr>
              <a:t>CERBOS PDP · APACHE 2.0</a:t>
            </a:r>
            <a:endParaRPr lang="en-US" sz="1200" dirty="0"/>
          </a:p>
        </p:txBody>
      </p:sp>
      <p:sp>
        <p:nvSpPr>
          <p:cNvPr id="22" name="Text 20"/>
          <p:cNvSpPr/>
          <p:nvPr/>
        </p:nvSpPr>
        <p:spPr>
          <a:xfrm>
            <a:off x="7205960" y="2357041"/>
            <a:ext cx="404989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85041"/>
                </a:solidFill>
                <a:latin typeface="IBM Plex Sans" pitchFamily="34" charset="0"/>
                <a:ea typeface="IBM Plex Sans" pitchFamily="34" charset="-122"/>
                <a:cs typeface="IBM Plex Sans" pitchFamily="34" charset="-120"/>
              </a:rPr>
              <a:t>A natural pair</a:t>
            </a:r>
            <a:endParaRPr lang="en-US" sz="1600" dirty="0"/>
          </a:p>
        </p:txBody>
      </p:sp>
      <p:sp>
        <p:nvSpPr>
          <p:cNvPr id="23" name="Text 21"/>
          <p:cNvSpPr/>
          <p:nvPr/>
        </p:nvSpPr>
        <p:spPr>
          <a:xfrm>
            <a:off x="7205960" y="2727871"/>
            <a:ext cx="40498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85041"/>
                </a:solidFill>
                <a:latin typeface="IBM Plex Sans" pitchFamily="34" charset="0"/>
                <a:ea typeface="IBM Plex Sans" pitchFamily="34" charset="-122"/>
                <a:cs typeface="IBM Plex Sans" pitchFamily="34" charset="-120"/>
              </a:rPr>
              <a:t>Cerbos has implemented the AuthZEN 1.0 metadata and evaluation endpoints since v0.48, so Tyk calls it with no translation layer.</a:t>
            </a:r>
            <a:endParaRPr lang="en-US" sz="1300" dirty="0"/>
          </a:p>
        </p:txBody>
      </p:sp>
      <p:sp>
        <p:nvSpPr>
          <p:cNvPr id="24" name="Text 22"/>
          <p:cNvSpPr/>
          <p:nvPr/>
        </p:nvSpPr>
        <p:spPr>
          <a:xfrm>
            <a:off x="7205960" y="3548261"/>
            <a:ext cx="404989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85041"/>
                </a:solidFill>
                <a:latin typeface="IBM Plex Sans" pitchFamily="34" charset="0"/>
                <a:ea typeface="IBM Plex Sans" pitchFamily="34" charset="-122"/>
                <a:cs typeface="IBM Plex Sans" pitchFamily="34" charset="-120"/>
              </a:rPr>
              <a:t>Policies are code, tested in CI, and evaluated without storing state.</a:t>
            </a:r>
            <a:endParaRPr lang="en-US" sz="1300" dirty="0"/>
          </a:p>
        </p:txBody>
      </p:sp>
      <p:sp>
        <p:nvSpPr>
          <p:cNvPr id="25" name="Text 23"/>
          <p:cNvSpPr/>
          <p:nvPr/>
        </p:nvSpPr>
        <p:spPr>
          <a:xfrm>
            <a:off x="7205960" y="4137521"/>
            <a:ext cx="40498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85041"/>
                </a:solidFill>
                <a:latin typeface="IBM Plex Sans" pitchFamily="34" charset="0"/>
                <a:ea typeface="IBM Plex Sans" pitchFamily="34" charset="-122"/>
                <a:cs typeface="IBM Plex Sans" pitchFamily="34" charset="-120"/>
              </a:rPr>
              <a:t>Both components are version-pinned, scanned through standard supply-chain controls, and have commercial support options.</a:t>
            </a:r>
            <a:endParaRPr lang="en-US" sz="1300" dirty="0"/>
          </a:p>
        </p:txBody>
      </p:sp>
      <p:sp>
        <p:nvSpPr>
          <p:cNvPr id="26" name="Text 2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28 / 32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DELIVERY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What stays fixed, what gets better</a:t>
            </a:r>
            <a:endParaRPr lang="en-US" sz="3000" dirty="0"/>
          </a:p>
        </p:txBody>
      </p:sp>
      <p:sp>
        <p:nvSpPr>
          <p:cNvPr id="4" name="Shape 2"/>
          <p:cNvSpPr/>
          <p:nvPr/>
        </p:nvSpPr>
        <p:spPr>
          <a:xfrm>
            <a:off x="819150" y="1781770"/>
            <a:ext cx="5168900" cy="3212902"/>
          </a:xfrm>
          <a:prstGeom prst="roundRect">
            <a:avLst>
              <a:gd name="adj" fmla="val 2174"/>
            </a:avLst>
          </a:prstGeom>
          <a:solidFill>
            <a:srgbClr val="E6F1FB"/>
          </a:solidFill>
          <a:ln w="12700">
            <a:solidFill>
              <a:srgbClr val="185FA5"/>
            </a:solidFill>
            <a:prstDash val="solid"/>
          </a:ln>
        </p:spPr>
      </p:sp>
      <p:sp>
        <p:nvSpPr>
          <p:cNvPr id="5" name="Text 3"/>
          <p:cNvSpPr/>
          <p:nvPr/>
        </p:nvSpPr>
        <p:spPr>
          <a:xfrm>
            <a:off x="1054100" y="2016720"/>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BM Plex Mono" pitchFamily="49" charset="0"/>
                <a:ea typeface="IBM Plex Mono" pitchFamily="49" charset="-122"/>
                <a:cs typeface="IBM Plex Mono" pitchFamily="49" charset="-120"/>
              </a:rPr>
              <a:t>DOES NOT CHANGE</a:t>
            </a:r>
            <a:endParaRPr lang="en-US" sz="1200" dirty="0"/>
          </a:p>
        </p:txBody>
      </p:sp>
      <p:pic>
        <p:nvPicPr>
          <p:cNvPr id="6" name="Image 0" descr="Lock">    </p:cNvPr>
          <p:cNvPicPr>
            <a:picLocks noChangeAspect="1"/>
          </p:cNvPicPr>
          <p:nvPr/>
        </p:nvPicPr>
        <p:blipFill>
          <a:blip r:embed="rId1"/>
          <a:srcRect l="0" r="0" t="0" b="0"/>
          <a:stretch/>
        </p:blipFill>
        <p:spPr>
          <a:xfrm>
            <a:off x="1054100" y="2382441"/>
            <a:ext cx="228600" cy="228600"/>
          </a:xfrm>
          <a:prstGeom prst="rect">
            <a:avLst/>
          </a:prstGeom>
        </p:spPr>
      </p:pic>
      <p:sp>
        <p:nvSpPr>
          <p:cNvPr id="7" name="Text 4"/>
          <p:cNvSpPr/>
          <p:nvPr/>
        </p:nvSpPr>
        <p:spPr>
          <a:xfrm>
            <a:off x="1409700" y="238244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C447C"/>
                </a:solidFill>
                <a:latin typeface="IBM Plex Sans" pitchFamily="34" charset="0"/>
                <a:ea typeface="IBM Plex Sans" pitchFamily="34" charset="-122"/>
                <a:cs typeface="IBM Plex Sans" pitchFamily="34" charset="-120"/>
              </a:rPr>
              <a:t>The enterprise STS and MFA remain the sole source of identity.</a:t>
            </a:r>
            <a:endParaRPr lang="en-US" sz="1400" dirty="0"/>
          </a:p>
        </p:txBody>
      </p:sp>
      <p:pic>
        <p:nvPicPr>
          <p:cNvPr id="8" name="Image 1" descr="Lock">    </p:cNvPr>
          <p:cNvPicPr>
            <a:picLocks noChangeAspect="1"/>
          </p:cNvPicPr>
          <p:nvPr/>
        </p:nvPicPr>
        <p:blipFill>
          <a:blip r:embed="rId2"/>
          <a:srcRect l="0" r="0" t="0" b="0"/>
          <a:stretch/>
        </p:blipFill>
        <p:spPr>
          <a:xfrm>
            <a:off x="1054100" y="3014861"/>
            <a:ext cx="228600" cy="228600"/>
          </a:xfrm>
          <a:prstGeom prst="rect">
            <a:avLst/>
          </a:prstGeom>
        </p:spPr>
      </p:pic>
      <p:sp>
        <p:nvSpPr>
          <p:cNvPr id="9" name="Text 5"/>
          <p:cNvSpPr/>
          <p:nvPr/>
        </p:nvSpPr>
        <p:spPr>
          <a:xfrm>
            <a:off x="1409700" y="301486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C447C"/>
                </a:solidFill>
                <a:latin typeface="IBM Plex Sans" pitchFamily="34" charset="0"/>
                <a:ea typeface="IBM Plex Sans" pitchFamily="34" charset="-122"/>
                <a:cs typeface="IBM Plex Sans" pitchFamily="34" charset="-120"/>
              </a:rPr>
              <a:t>The enterprise decision service remains authoritative and is consulted first on every request.</a:t>
            </a:r>
            <a:endParaRPr lang="en-US" sz="1400" dirty="0"/>
          </a:p>
        </p:txBody>
      </p:sp>
      <p:pic>
        <p:nvPicPr>
          <p:cNvPr id="10" name="Image 2" descr="Lock">    </p:cNvPr>
          <p:cNvPicPr>
            <a:picLocks noChangeAspect="1"/>
          </p:cNvPicPr>
          <p:nvPr/>
        </p:nvPicPr>
        <p:blipFill>
          <a:blip r:embed="rId3"/>
          <a:srcRect l="0" r="0" t="0" b="0"/>
          <a:stretch/>
        </p:blipFill>
        <p:spPr>
          <a:xfrm>
            <a:off x="1054100" y="3647281"/>
            <a:ext cx="228600" cy="228600"/>
          </a:xfrm>
          <a:prstGeom prst="rect">
            <a:avLst/>
          </a:prstGeom>
        </p:spPr>
      </p:pic>
      <p:sp>
        <p:nvSpPr>
          <p:cNvPr id="11" name="Text 6"/>
          <p:cNvSpPr/>
          <p:nvPr/>
        </p:nvSpPr>
        <p:spPr>
          <a:xfrm>
            <a:off x="1409700" y="364728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C447C"/>
                </a:solidFill>
                <a:latin typeface="IBM Plex Sans" pitchFamily="34" charset="0"/>
                <a:ea typeface="IBM Plex Sans" pitchFamily="34" charset="-122"/>
                <a:cs typeface="IBM Plex Sans" pitchFamily="34" charset="-120"/>
              </a:rPr>
              <a:t>Attributes of record, clearances, envelopes, and their approval processes stay with ICAM.</a:t>
            </a:r>
            <a:endParaRPr lang="en-US" sz="1400" dirty="0"/>
          </a:p>
        </p:txBody>
      </p:sp>
      <p:sp>
        <p:nvSpPr>
          <p:cNvPr id="12" name="Shape 7"/>
          <p:cNvSpPr/>
          <p:nvPr/>
        </p:nvSpPr>
        <p:spPr>
          <a:xfrm>
            <a:off x="6203950" y="1781770"/>
            <a:ext cx="5168900" cy="3212902"/>
          </a:xfrm>
          <a:prstGeom prst="roundRect">
            <a:avLst>
              <a:gd name="adj" fmla="val 2174"/>
            </a:avLst>
          </a:prstGeom>
          <a:solidFill>
            <a:srgbClr val="E1F5EE"/>
          </a:solidFill>
          <a:ln w="12700">
            <a:solidFill>
              <a:srgbClr val="0F6E56"/>
            </a:solidFill>
            <a:prstDash val="solid"/>
          </a:ln>
        </p:spPr>
      </p:sp>
      <p:sp>
        <p:nvSpPr>
          <p:cNvPr id="13" name="Text 8"/>
          <p:cNvSpPr/>
          <p:nvPr/>
        </p:nvSpPr>
        <p:spPr>
          <a:xfrm>
            <a:off x="6438900" y="2016720"/>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BM Plex Mono" pitchFamily="49" charset="0"/>
                <a:ea typeface="IBM Plex Mono" pitchFamily="49" charset="-122"/>
                <a:cs typeface="IBM Plex Mono" pitchFamily="49" charset="-120"/>
              </a:rPr>
              <a:t>GETS BETTER</a:t>
            </a:r>
            <a:endParaRPr lang="en-US" sz="1200" dirty="0"/>
          </a:p>
        </p:txBody>
      </p:sp>
      <p:pic>
        <p:nvPicPr>
          <p:cNvPr id="14" name="Image 3" descr="CheckCircle">    </p:cNvPr>
          <p:cNvPicPr>
            <a:picLocks noChangeAspect="1"/>
          </p:cNvPicPr>
          <p:nvPr/>
        </p:nvPicPr>
        <p:blipFill>
          <a:blip r:embed="rId4"/>
          <a:srcRect l="0" r="0" t="0" b="0"/>
          <a:stretch/>
        </p:blipFill>
        <p:spPr>
          <a:xfrm>
            <a:off x="6438900" y="2382441"/>
            <a:ext cx="228600" cy="228600"/>
          </a:xfrm>
          <a:prstGeom prst="rect">
            <a:avLst/>
          </a:prstGeom>
        </p:spPr>
      </p:pic>
      <p:sp>
        <p:nvSpPr>
          <p:cNvPr id="15" name="Text 9"/>
          <p:cNvSpPr/>
          <p:nvPr/>
        </p:nvSpPr>
        <p:spPr>
          <a:xfrm>
            <a:off x="6794500" y="238244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85041"/>
                </a:solidFill>
                <a:latin typeface="IBM Plex Sans" pitchFamily="34" charset="0"/>
                <a:ea typeface="IBM Plex Sans" pitchFamily="34" charset="-122"/>
                <a:cs typeface="IBM Plex Sans" pitchFamily="34" charset="-120"/>
              </a:rPr>
              <a:t>Mission rules ship at the mission's pace, inside boundaries ICAM sets.</a:t>
            </a:r>
            <a:endParaRPr lang="en-US" sz="1400" dirty="0"/>
          </a:p>
        </p:txBody>
      </p:sp>
      <p:pic>
        <p:nvPicPr>
          <p:cNvPr id="16" name="Image 4" descr="CheckCircle">    </p:cNvPr>
          <p:cNvPicPr>
            <a:picLocks noChangeAspect="1"/>
          </p:cNvPicPr>
          <p:nvPr/>
        </p:nvPicPr>
        <p:blipFill>
          <a:blip r:embed="rId5"/>
          <a:srcRect l="0" r="0" t="0" b="0"/>
          <a:stretch/>
        </p:blipFill>
        <p:spPr>
          <a:xfrm>
            <a:off x="6438900" y="3014861"/>
            <a:ext cx="228600" cy="228600"/>
          </a:xfrm>
          <a:prstGeom prst="rect">
            <a:avLst/>
          </a:prstGeom>
        </p:spPr>
      </p:pic>
      <p:sp>
        <p:nvSpPr>
          <p:cNvPr id="17" name="Text 10"/>
          <p:cNvSpPr/>
          <p:nvPr/>
        </p:nvSpPr>
        <p:spPr>
          <a:xfrm>
            <a:off x="6794500" y="301486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85041"/>
                </a:solidFill>
                <a:latin typeface="IBM Plex Sans" pitchFamily="34" charset="0"/>
                <a:ea typeface="IBM Plex Sans" pitchFamily="34" charset="-122"/>
                <a:cs typeface="IBM Plex Sans" pitchFamily="34" charset="-120"/>
              </a:rPr>
              <a:t>The bespoke auth proxy is retired for a standards-based gateway.</a:t>
            </a:r>
            <a:endParaRPr lang="en-US" sz="1400" dirty="0"/>
          </a:p>
        </p:txBody>
      </p:sp>
      <p:pic>
        <p:nvPicPr>
          <p:cNvPr id="18" name="Image 5" descr="CheckCircle">    </p:cNvPr>
          <p:cNvPicPr>
            <a:picLocks noChangeAspect="1"/>
          </p:cNvPicPr>
          <p:nvPr/>
        </p:nvPicPr>
        <p:blipFill>
          <a:blip r:embed="rId6"/>
          <a:srcRect l="0" r="0" t="0" b="0"/>
          <a:stretch/>
        </p:blipFill>
        <p:spPr>
          <a:xfrm>
            <a:off x="6438900" y="3647281"/>
            <a:ext cx="228600" cy="228600"/>
          </a:xfrm>
          <a:prstGeom prst="rect">
            <a:avLst/>
          </a:prstGeom>
        </p:spPr>
      </p:pic>
      <p:sp>
        <p:nvSpPr>
          <p:cNvPr id="19" name="Text 11"/>
          <p:cNvSpPr/>
          <p:nvPr/>
        </p:nvSpPr>
        <p:spPr>
          <a:xfrm>
            <a:off x="6794500" y="3647281"/>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85041"/>
                </a:solidFill>
                <a:latin typeface="IBM Plex Sans" pitchFamily="34" charset="0"/>
                <a:ea typeface="IBM Plex Sans" pitchFamily="34" charset="-122"/>
                <a:cs typeface="IBM Plex Sans" pitchFamily="34" charset="-120"/>
              </a:rPr>
              <a:t>ICAM sees more, approves the boundaries that matter, and fields fewer narrow requests.</a:t>
            </a:r>
            <a:endParaRPr lang="en-US" sz="1400" dirty="0"/>
          </a:p>
        </p:txBody>
      </p:sp>
      <p:pic>
        <p:nvPicPr>
          <p:cNvPr id="20" name="Image 6" descr="CheckCircle">    </p:cNvPr>
          <p:cNvPicPr>
            <a:picLocks noChangeAspect="1"/>
          </p:cNvPicPr>
          <p:nvPr/>
        </p:nvPicPr>
        <p:blipFill>
          <a:blip r:embed="rId7"/>
          <a:srcRect l="0" r="0" t="0" b="0"/>
          <a:stretch/>
        </p:blipFill>
        <p:spPr>
          <a:xfrm>
            <a:off x="6438900" y="4279702"/>
            <a:ext cx="228600" cy="228600"/>
          </a:xfrm>
          <a:prstGeom prst="rect">
            <a:avLst/>
          </a:prstGeom>
        </p:spPr>
      </p:pic>
      <p:sp>
        <p:nvSpPr>
          <p:cNvPr id="21" name="Text 12"/>
          <p:cNvSpPr/>
          <p:nvPr/>
        </p:nvSpPr>
        <p:spPr>
          <a:xfrm>
            <a:off x="6794500" y="4279702"/>
            <a:ext cx="447370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85041"/>
                </a:solidFill>
                <a:latin typeface="IBM Plex Sans" pitchFamily="34" charset="0"/>
                <a:ea typeface="IBM Plex Sans" pitchFamily="34" charset="-122"/>
                <a:cs typeface="IBM Plex Sans" pitchFamily="34" charset="-120"/>
              </a:rPr>
              <a:t>Applications are decoupled from any one decision engine.</a:t>
            </a:r>
            <a:endParaRPr lang="en-US" sz="1400" dirty="0"/>
          </a:p>
        </p:txBody>
      </p:sp>
      <p:sp>
        <p:nvSpPr>
          <p:cNvPr id="22"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3"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29 / 32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DELIVERY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Costs we accept, and how we contain them</a:t>
            </a:r>
            <a:endParaRPr lang="en-US" sz="3000" dirty="0"/>
          </a:p>
        </p:txBody>
      </p:sp>
      <p:sp>
        <p:nvSpPr>
          <p:cNvPr id="4" name="Shape 2"/>
          <p:cNvSpPr/>
          <p:nvPr/>
        </p:nvSpPr>
        <p:spPr>
          <a:xfrm>
            <a:off x="812800" y="1781770"/>
            <a:ext cx="10566400" cy="0"/>
          </a:xfrm>
          <a:prstGeom prst="line">
            <a:avLst/>
          </a:prstGeom>
          <a:noFill/>
          <a:ln w="12700">
            <a:solidFill>
              <a:srgbClr val="141413">
                <a:alpha val="22000"/>
              </a:srgbClr>
            </a:solidFill>
            <a:prstDash val="solid"/>
          </a:ln>
        </p:spPr>
      </p:sp>
      <p:sp>
        <p:nvSpPr>
          <p:cNvPr id="5" name="Shape 3"/>
          <p:cNvSpPr/>
          <p:nvPr/>
        </p:nvSpPr>
        <p:spPr>
          <a:xfrm>
            <a:off x="819150" y="1775420"/>
            <a:ext cx="0" cy="2826544"/>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877020"/>
          <a:ext cx="10325100" cy="2636044"/>
        </p:xfrm>
        <a:graphic>
          <a:graphicData uri="http://schemas.openxmlformats.org/drawingml/2006/table">
            <a:tbl>
              <a:tblPr/>
              <a:tblGrid>
                <a:gridCol w="3717036"/>
                <a:gridCol w="6608064"/>
              </a:tblGrid>
              <a:tr h="332680">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Cost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c>
                  <a:txBody>
                    <a:bodyPr/>
                    <a:lstStyle/>
                    <a:p>
                      <a:pP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Containment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8"/>
                      </a:solidFill>
                      <a:prstDash val="solid"/>
                      <a:round/>
                      <a:headEnd type="none" w="med" len="med"/>
                      <a:tailEnd type="none" w="med" len="med"/>
                    </a:lnL>
                    <a:lnR w="12700" cap="flat" cmpd="sng" algn="ctr">
                      <a:solidFill>
                        <a:srgbClr val="141D28"/>
                      </a:solidFill>
                      <a:prstDash val="solid"/>
                      <a:round/>
                      <a:headEnd type="none" w="med" len="med"/>
                      <a:tailEnd type="none" w="med" len="med"/>
                    </a:lnR>
                    <a:lnT w="0" cap="flat" cmpd="sng" algn="ctr">
                      <a:noFill/>
                    </a:lnT>
                    <a:lnB w="12700" cap="flat" cmpd="sng" algn="ctr">
                      <a:solidFill>
                        <a:srgbClr val="141D28"/>
                      </a:solidFill>
                      <a:prstDash val="solid"/>
                      <a:round/>
                      <a:headEnd type="none" w="med" len="med"/>
                      <a:tailEnd type="none" w="med" len="med"/>
                    </a:lnB>
                    <a:solidFill>
                      <a:srgbClr val="14202E"/>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A second decision on every request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Enterprise deny short-circuits; Cerbos sits beside the gateway; batch evaluation where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D28"/>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Two new components to operate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Highly available Tyk replicas, fail closed, standard supply-chain scanning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332680">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Plugin upkeep across gateway upgrades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Plugins built and tested in CI as part of the upgrade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New governance work: registry, envelopes, policy review</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One pattern and one registry for every mission; ICAM approval load shifts from narrow requests to boundaries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FB9"/>
                      </a:solidFill>
                      <a:prstDash val="solid"/>
                      <a:round/>
                      <a:headEnd type="none" w="med" len="med"/>
                      <a:tailEnd type="none" w="med" len="med"/>
                    </a:lnL>
                    <a:lnR w="12700" cap="flat" cmpd="sng" algn="ctr">
                      <a:solidFill>
                        <a:srgbClr val="C0BF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0BFB9"/>
                      </a:solidFill>
                      <a:prstDash val="solid"/>
                      <a:round/>
                      <a:headEnd type="none" w="med" len="med"/>
                      <a:tailEnd type="none" w="med" len="med"/>
                    </a:lnB>
                    <a:solidFill>
                      <a:srgbClr val="F1EFE8"/>
                    </a:solidFill>
                  </a:tcPr>
                </a:tc>
              </a:tr>
              <a:tr h="546001">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Mission teams take on policy as code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c>
                  <a:txBody>
                    <a:bodyPr/>
                    <a:lstStyle/>
                    <a:p>
                      <a:pPr indent="0" marL="0">
                        <a:lnSpc>
                          <a:spcPts val="1680"/>
                        </a:lnSpc>
                        <a:buNone/>
                      </a:pPr>
                      <a:r>
                        <a:rPr lang="en-US" sz="1200" dirty="0">
                          <a:solidFill>
                            <a:srgbClr val="1B1F24"/>
                          </a:solidFill>
                          <a:latin typeface="IBM Plex Sans" pitchFamily="34" charset="0"/>
                          <a:ea typeface="IBM Plex Sans" pitchFamily="34" charset="-122"/>
                          <a:cs typeface="IBM Plex Sans" pitchFamily="34" charset="-120"/>
                        </a:rPr>
                        <a:t>Steward shop sets intent, mission engineering implements, the governance board approves releases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0BFB9"/>
                      </a:solidFill>
                      <a:prstDash val="solid"/>
                      <a:round/>
                      <a:headEnd type="none" w="med" len="med"/>
                      <a:tailEnd type="none" w="med" len="med"/>
                    </a:lnT>
                    <a:lnB w="12700" cap="flat" cmpd="sng" algn="ctr">
                      <a:solidFill>
                        <a:srgbClr val="CAC9C7"/>
                      </a:solidFill>
                      <a:prstDash val="solid"/>
                      <a:round/>
                      <a:headEnd type="none" w="med" len="med"/>
                      <a:tailEnd type="none" w="med" len="med"/>
                    </a:lnB>
                    <a:solidFill>
                      <a:srgbClr val="FDFCFA"/>
                    </a:solidFill>
                  </a:tcPr>
                </a:tc>
              </a:tr>
            </a:tbl>
          </a:graphicData>
        </a:graphic>
      </p:graphicFrame>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30 / 32</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85FA5"/>
                </a:solidFill>
                <a:latin typeface="IBM Plex Mono" pitchFamily="49" charset="0"/>
                <a:ea typeface="IBM Plex Mono" pitchFamily="49" charset="-122"/>
                <a:cs typeface="IBM Plex Mono" pitchFamily="49" charset="-120"/>
              </a:rPr>
              <a:t>THE ASK</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4202E"/>
                </a:solidFill>
                <a:latin typeface="IBM Plex Sans" pitchFamily="34" charset="0"/>
                <a:ea typeface="IBM Plex Sans" pitchFamily="34" charset="-122"/>
                <a:cs typeface="IBM Plex Sans" pitchFamily="34" charset="-120"/>
              </a:rPr>
              <a:t>Open questions for co-design</a:t>
            </a:r>
            <a:endParaRPr lang="en-US" sz="3000" dirty="0"/>
          </a:p>
        </p:txBody>
      </p:sp>
      <p:sp>
        <p:nvSpPr>
          <p:cNvPr id="4" name="Shape 2"/>
          <p:cNvSpPr/>
          <p:nvPr/>
        </p:nvSpPr>
        <p:spPr>
          <a:xfrm>
            <a:off x="812800" y="1781770"/>
            <a:ext cx="10566400" cy="0"/>
          </a:xfrm>
          <a:prstGeom prst="line">
            <a:avLst/>
          </a:prstGeom>
          <a:noFill/>
          <a:ln w="12700">
            <a:solidFill>
              <a:srgbClr val="14202E"/>
            </a:solidFill>
            <a:prstDash val="solid"/>
          </a:ln>
        </p:spPr>
      </p:sp>
      <p:sp>
        <p:nvSpPr>
          <p:cNvPr id="5" name="Text 3"/>
          <p:cNvSpPr/>
          <p:nvPr/>
        </p:nvSpPr>
        <p:spPr>
          <a:xfrm>
            <a:off x="812800" y="1927820"/>
            <a:ext cx="508000" cy="523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5FA5"/>
                </a:solidFill>
                <a:latin typeface="IBM Plex Mono" pitchFamily="49" charset="0"/>
                <a:ea typeface="IBM Plex Mono" pitchFamily="49" charset="-122"/>
                <a:cs typeface="IBM Plex Mono" pitchFamily="49" charset="-120"/>
              </a:rPr>
              <a:t>01</a:t>
            </a:r>
            <a:endParaRPr lang="en-US" sz="1600" dirty="0"/>
          </a:p>
        </p:txBody>
      </p:sp>
      <p:sp>
        <p:nvSpPr>
          <p:cNvPr id="6" name="Text 4"/>
          <p:cNvSpPr/>
          <p:nvPr/>
        </p:nvSpPr>
        <p:spPr>
          <a:xfrm>
            <a:off x="1473200" y="1927820"/>
            <a:ext cx="102031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Does the enterprise decision service expose an AuthZEN interface? If not, a thin Tyk adapter plugin translates to its native API.</a:t>
            </a:r>
            <a:endParaRPr lang="en-US" sz="1400" dirty="0"/>
          </a:p>
        </p:txBody>
      </p:sp>
      <p:sp>
        <p:nvSpPr>
          <p:cNvPr id="7" name="Shape 5"/>
          <p:cNvSpPr/>
          <p:nvPr/>
        </p:nvSpPr>
        <p:spPr>
          <a:xfrm>
            <a:off x="812800" y="2568476"/>
            <a:ext cx="10566400" cy="0"/>
          </a:xfrm>
          <a:prstGeom prst="line">
            <a:avLst/>
          </a:prstGeom>
          <a:noFill/>
          <a:ln w="6350">
            <a:solidFill>
              <a:srgbClr val="DEDBD2"/>
            </a:solidFill>
            <a:prstDash val="solid"/>
          </a:ln>
        </p:spPr>
      </p:sp>
      <p:sp>
        <p:nvSpPr>
          <p:cNvPr id="8" name="Text 6"/>
          <p:cNvSpPr/>
          <p:nvPr/>
        </p:nvSpPr>
        <p:spPr>
          <a:xfrm>
            <a:off x="812800" y="2711351"/>
            <a:ext cx="508000" cy="523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5FA5"/>
                </a:solidFill>
                <a:latin typeface="IBM Plex Mono" pitchFamily="49" charset="0"/>
                <a:ea typeface="IBM Plex Mono" pitchFamily="49" charset="-122"/>
                <a:cs typeface="IBM Plex Mono" pitchFamily="49" charset="-120"/>
              </a:rPr>
              <a:t>02</a:t>
            </a:r>
            <a:endParaRPr lang="en-US" sz="1600" dirty="0"/>
          </a:p>
        </p:txBody>
      </p:sp>
      <p:sp>
        <p:nvSpPr>
          <p:cNvPr id="9" name="Text 7"/>
          <p:cNvSpPr/>
          <p:nvPr/>
        </p:nvSpPr>
        <p:spPr>
          <a:xfrm>
            <a:off x="1473200" y="2711351"/>
            <a:ext cx="102031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Can the Tyk AuthZEN plugin target two PDPs in sequence, or do we chain two instances or write a small Go composition plugin?</a:t>
            </a:r>
            <a:endParaRPr lang="en-US" sz="1400" dirty="0"/>
          </a:p>
        </p:txBody>
      </p:sp>
      <p:sp>
        <p:nvSpPr>
          <p:cNvPr id="10" name="Shape 8"/>
          <p:cNvSpPr/>
          <p:nvPr/>
        </p:nvSpPr>
        <p:spPr>
          <a:xfrm>
            <a:off x="812800" y="3352006"/>
            <a:ext cx="10566400" cy="0"/>
          </a:xfrm>
          <a:prstGeom prst="line">
            <a:avLst/>
          </a:prstGeom>
          <a:noFill/>
          <a:ln w="6350">
            <a:solidFill>
              <a:srgbClr val="DEDBD2"/>
            </a:solidFill>
            <a:prstDash val="solid"/>
          </a:ln>
        </p:spPr>
      </p:sp>
      <p:sp>
        <p:nvSpPr>
          <p:cNvPr id="11" name="Text 9"/>
          <p:cNvSpPr/>
          <p:nvPr/>
        </p:nvSpPr>
        <p:spPr>
          <a:xfrm>
            <a:off x="812800" y="3494881"/>
            <a:ext cx="508000" cy="523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5FA5"/>
                </a:solidFill>
                <a:latin typeface="IBM Plex Mono" pitchFamily="49" charset="0"/>
                <a:ea typeface="IBM Plex Mono" pitchFamily="49" charset="-122"/>
                <a:cs typeface="IBM Plex Mono" pitchFamily="49" charset="-120"/>
              </a:rPr>
              <a:t>03</a:t>
            </a:r>
            <a:endParaRPr lang="en-US" sz="1600" dirty="0"/>
          </a:p>
        </p:txBody>
      </p:sp>
      <p:sp>
        <p:nvSpPr>
          <p:cNvPr id="12" name="Text 10"/>
          <p:cNvSpPr/>
          <p:nvPr/>
        </p:nvSpPr>
        <p:spPr>
          <a:xfrm>
            <a:off x="1473200" y="3494881"/>
            <a:ext cx="102031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Which claims does the STS token carry today, including assurance level and methods, and which must the mission layer receive?</a:t>
            </a:r>
            <a:endParaRPr lang="en-US" sz="1400" dirty="0"/>
          </a:p>
        </p:txBody>
      </p:sp>
      <p:sp>
        <p:nvSpPr>
          <p:cNvPr id="13" name="Shape 11"/>
          <p:cNvSpPr/>
          <p:nvPr/>
        </p:nvSpPr>
        <p:spPr>
          <a:xfrm>
            <a:off x="812800" y="4135537"/>
            <a:ext cx="10566400" cy="0"/>
          </a:xfrm>
          <a:prstGeom prst="line">
            <a:avLst/>
          </a:prstGeom>
          <a:noFill/>
          <a:ln w="6350">
            <a:solidFill>
              <a:srgbClr val="DEDBD2"/>
            </a:solidFill>
            <a:prstDash val="solid"/>
          </a:ln>
        </p:spPr>
      </p:sp>
      <p:sp>
        <p:nvSpPr>
          <p:cNvPr id="14" name="Text 12"/>
          <p:cNvSpPr/>
          <p:nvPr/>
        </p:nvSpPr>
        <p:spPr>
          <a:xfrm>
            <a:off x="812800" y="4278412"/>
            <a:ext cx="508000" cy="27429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5FA5"/>
                </a:solidFill>
                <a:latin typeface="IBM Plex Mono" pitchFamily="49" charset="0"/>
                <a:ea typeface="IBM Plex Mono" pitchFamily="49" charset="-122"/>
                <a:cs typeface="IBM Plex Mono" pitchFamily="49" charset="-120"/>
              </a:rPr>
              <a:t>04</a:t>
            </a:r>
            <a:endParaRPr lang="en-US" sz="1600" dirty="0"/>
          </a:p>
        </p:txBody>
      </p:sp>
      <p:sp>
        <p:nvSpPr>
          <p:cNvPr id="15" name="Text 13"/>
          <p:cNvSpPr/>
          <p:nvPr/>
        </p:nvSpPr>
        <p:spPr>
          <a:xfrm>
            <a:off x="1473200" y="4278412"/>
            <a:ext cx="102031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Where do decision logs land, and what retention does the enterprise audit function require?</a:t>
            </a:r>
            <a:endParaRPr lang="en-US" sz="1400" dirty="0"/>
          </a:p>
        </p:txBody>
      </p:sp>
      <p:sp>
        <p:nvSpPr>
          <p:cNvPr id="16" name="Shape 14"/>
          <p:cNvSpPr/>
          <p:nvPr/>
        </p:nvSpPr>
        <p:spPr>
          <a:xfrm>
            <a:off x="812800" y="4670177"/>
            <a:ext cx="10566400" cy="0"/>
          </a:xfrm>
          <a:prstGeom prst="line">
            <a:avLst/>
          </a:prstGeom>
          <a:noFill/>
          <a:ln w="6350">
            <a:solidFill>
              <a:srgbClr val="DEDBD2"/>
            </a:solidFill>
            <a:prstDash val="solid"/>
          </a:ln>
        </p:spPr>
      </p:sp>
      <p:sp>
        <p:nvSpPr>
          <p:cNvPr id="17" name="Shape 15"/>
          <p:cNvSpPr/>
          <p:nvPr/>
        </p:nvSpPr>
        <p:spPr>
          <a:xfrm>
            <a:off x="812800" y="5204817"/>
            <a:ext cx="10566400" cy="0"/>
          </a:xfrm>
          <a:prstGeom prst="line">
            <a:avLst/>
          </a:prstGeom>
          <a:noFill/>
          <a:ln w="6350">
            <a:solidFill>
              <a:srgbClr val="DEDBD2"/>
            </a:solidFill>
            <a:prstDash val="solid"/>
          </a:ln>
        </p:spPr>
      </p:sp>
      <p:sp>
        <p:nvSpPr>
          <p:cNvPr id="18" name="Text 16"/>
          <p:cNvSpPr/>
          <p:nvPr/>
        </p:nvSpPr>
        <p:spPr>
          <a:xfrm>
            <a:off x="812800" y="4813052"/>
            <a:ext cx="508000" cy="27429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5FA5"/>
                </a:solidFill>
                <a:latin typeface="IBM Plex Mono" pitchFamily="49" charset="0"/>
                <a:ea typeface="IBM Plex Mono" pitchFamily="49" charset="-122"/>
                <a:cs typeface="IBM Plex Mono" pitchFamily="49" charset="-120"/>
              </a:rPr>
              <a:t>05</a:t>
            </a:r>
            <a:endParaRPr lang="en-US" sz="1600" dirty="0"/>
          </a:p>
        </p:txBody>
      </p:sp>
      <p:sp>
        <p:nvSpPr>
          <p:cNvPr id="19" name="Text 17"/>
          <p:cNvSpPr/>
          <p:nvPr/>
        </p:nvSpPr>
        <p:spPr>
          <a:xfrm>
            <a:off x="1473200" y="4813052"/>
            <a:ext cx="102031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1F24"/>
                </a:solidFill>
                <a:latin typeface="IBM Plex Sans" pitchFamily="34" charset="0"/>
                <a:ea typeface="IBM Plex Sans" pitchFamily="34" charset="-122"/>
                <a:cs typeface="IBM Plex Sans" pitchFamily="34" charset="-120"/>
              </a:rPr>
              <a:t>Does enterprise ICAM support Shared Signals and CAEP for near-real-time revocation?</a:t>
            </a:r>
            <a:endParaRPr lang="en-US" sz="14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Layered Authorization · Proposed ADR</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A64"/>
                </a:solidFill>
                <a:latin typeface="IBM Plex Mono" pitchFamily="49" charset="0"/>
                <a:ea typeface="IBM Plex Mono" pitchFamily="49" charset="-122"/>
                <a:cs typeface="IBM Plex Mono" pitchFamily="49" charset="-120"/>
              </a:rPr>
              <a:t>31 / 32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DB8D9"/>
                </a:solidFill>
                <a:latin typeface="IBM Plex Mono" pitchFamily="49" charset="0"/>
                <a:ea typeface="IBM Plex Mono" pitchFamily="49" charset="-122"/>
                <a:cs typeface="IBM Plex Mono" pitchFamily="49" charset="-120"/>
              </a:rPr>
              <a:t>THE ASK</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F2F0EA"/>
                </a:solidFill>
                <a:latin typeface="IBM Plex Sans" pitchFamily="34" charset="0"/>
                <a:ea typeface="IBM Plex Sans" pitchFamily="34" charset="-122"/>
                <a:cs typeface="IBM Plex Sans" pitchFamily="34" charset="-120"/>
              </a:rPr>
              <a:t>Three decisions requested</a:t>
            </a:r>
            <a:endParaRPr lang="en-US" sz="3000" dirty="0"/>
          </a:p>
        </p:txBody>
      </p:sp>
      <p:sp>
        <p:nvSpPr>
          <p:cNvPr id="4" name="Text 2"/>
          <p:cNvSpPr/>
          <p:nvPr/>
        </p:nvSpPr>
        <p:spPr>
          <a:xfrm>
            <a:off x="812800" y="1877020"/>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5B9BE0"/>
                </a:solidFill>
                <a:latin typeface="IBM Plex Mono" pitchFamily="49" charset="0"/>
                <a:ea typeface="IBM Plex Mono" pitchFamily="49" charset="-122"/>
                <a:cs typeface="IBM Plex Mono" pitchFamily="49" charset="-120"/>
              </a:rPr>
              <a:t>1</a:t>
            </a:r>
            <a:endParaRPr lang="en-US" sz="3200" dirty="0"/>
          </a:p>
        </p:txBody>
      </p:sp>
      <p:sp>
        <p:nvSpPr>
          <p:cNvPr id="5" name="Text 3"/>
          <p:cNvSpPr/>
          <p:nvPr/>
        </p:nvSpPr>
        <p:spPr>
          <a:xfrm>
            <a:off x="1676400" y="1877020"/>
            <a:ext cx="99938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IBM Plex Sans" pitchFamily="34" charset="0"/>
                <a:ea typeface="IBM Plex Sans" pitchFamily="34" charset="-122"/>
                <a:cs typeface="IBM Plex Sans" pitchFamily="34" charset="-120"/>
              </a:rPr>
              <a:t>Endorse the pattern</a:t>
            </a:r>
            <a:endParaRPr lang="en-US" sz="2000" dirty="0"/>
          </a:p>
        </p:txBody>
      </p:sp>
      <p:sp>
        <p:nvSpPr>
          <p:cNvPr id="6" name="Text 4"/>
          <p:cNvSpPr/>
          <p:nvPr/>
        </p:nvSpPr>
        <p:spPr>
          <a:xfrm>
            <a:off x="1676400" y="2232620"/>
            <a:ext cx="10515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IBM Plex Sans" pitchFamily="34" charset="0"/>
                <a:ea typeface="IBM Plex Sans" pitchFamily="34" charset="-122"/>
                <a:cs typeface="IBM Plex Sans" pitchFamily="34" charset="-120"/>
              </a:rPr>
              <a:t>Layered authorization as an extension of enterprise ICAM governance, including the narrow-only composition principle.</a:t>
            </a:r>
            <a:endParaRPr lang="en-US" sz="1400" dirty="0"/>
          </a:p>
        </p:txBody>
      </p:sp>
      <p:sp>
        <p:nvSpPr>
          <p:cNvPr id="7" name="Text 5"/>
          <p:cNvSpPr/>
          <p:nvPr/>
        </p:nvSpPr>
        <p:spPr>
          <a:xfrm>
            <a:off x="812800" y="2735511"/>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8F86E8"/>
                </a:solidFill>
                <a:latin typeface="IBM Plex Mono" pitchFamily="49" charset="0"/>
                <a:ea typeface="IBM Plex Mono" pitchFamily="49" charset="-122"/>
                <a:cs typeface="IBM Plex Mono" pitchFamily="49" charset="-120"/>
              </a:rPr>
              <a:t>2</a:t>
            </a:r>
            <a:endParaRPr lang="en-US" sz="3200" dirty="0"/>
          </a:p>
        </p:txBody>
      </p:sp>
      <p:sp>
        <p:nvSpPr>
          <p:cNvPr id="8" name="Text 6"/>
          <p:cNvSpPr/>
          <p:nvPr/>
        </p:nvSpPr>
        <p:spPr>
          <a:xfrm>
            <a:off x="1676400" y="2735511"/>
            <a:ext cx="99938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IBM Plex Sans" pitchFamily="34" charset="0"/>
                <a:ea typeface="IBM Plex Sans" pitchFamily="34" charset="-122"/>
                <a:cs typeface="IBM Plex Sans" pitchFamily="34" charset="-120"/>
              </a:rPr>
              <a:t>Charter a phased pilot</a:t>
            </a:r>
            <a:endParaRPr lang="en-US" sz="2000" dirty="0"/>
          </a:p>
        </p:txBody>
      </p:sp>
      <p:sp>
        <p:nvSpPr>
          <p:cNvPr id="9" name="Text 7"/>
          <p:cNvSpPr/>
          <p:nvPr/>
        </p:nvSpPr>
        <p:spPr>
          <a:xfrm>
            <a:off x="1676400" y="3091111"/>
            <a:ext cx="99938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IBM Plex Sans" pitchFamily="34" charset="0"/>
                <a:ea typeface="IBM Plex Sans" pitchFamily="34" charset="-122"/>
                <a:cs typeface="IBM Plex Sans" pitchFamily="34" charset="-120"/>
              </a:rPr>
              <a:t>One mission, co-led by enterprise ICAM and the mission, using Tyk Gateway and Cerbos.</a:t>
            </a:r>
            <a:endParaRPr lang="en-US" sz="1400" dirty="0"/>
          </a:p>
        </p:txBody>
      </p:sp>
      <p:sp>
        <p:nvSpPr>
          <p:cNvPr id="10" name="Text 8"/>
          <p:cNvSpPr/>
          <p:nvPr/>
        </p:nvSpPr>
        <p:spPr>
          <a:xfrm>
            <a:off x="812800" y="3594001"/>
            <a:ext cx="6604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3FB58F"/>
                </a:solidFill>
                <a:latin typeface="IBM Plex Mono" pitchFamily="49" charset="0"/>
                <a:ea typeface="IBM Plex Mono" pitchFamily="49" charset="-122"/>
                <a:cs typeface="IBM Plex Mono" pitchFamily="49" charset="-120"/>
              </a:rPr>
              <a:t>3</a:t>
            </a:r>
            <a:endParaRPr lang="en-US" sz="3200" dirty="0"/>
          </a:p>
        </p:txBody>
      </p:sp>
      <p:sp>
        <p:nvSpPr>
          <p:cNvPr id="11" name="Text 9"/>
          <p:cNvSpPr/>
          <p:nvPr/>
        </p:nvSpPr>
        <p:spPr>
          <a:xfrm>
            <a:off x="1676400" y="3594001"/>
            <a:ext cx="99938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F0EA"/>
                </a:solidFill>
                <a:latin typeface="IBM Plex Sans" pitchFamily="34" charset="0"/>
                <a:ea typeface="IBM Plex Sans" pitchFamily="34" charset="-122"/>
                <a:cs typeface="IBM Plex Sans" pitchFamily="34" charset="-120"/>
              </a:rPr>
              <a:t>Designate an ICAM co-lead</a:t>
            </a:r>
            <a:endParaRPr lang="en-US" sz="2000" dirty="0"/>
          </a:p>
        </p:txBody>
      </p:sp>
      <p:sp>
        <p:nvSpPr>
          <p:cNvPr id="12" name="Text 10"/>
          <p:cNvSpPr/>
          <p:nvPr/>
        </p:nvSpPr>
        <p:spPr>
          <a:xfrm>
            <a:off x="1676400" y="3949601"/>
            <a:ext cx="99938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IBM Plex Sans" pitchFamily="34" charset="0"/>
                <a:ea typeface="IBM Plex Sans" pitchFamily="34" charset="-122"/>
                <a:cs typeface="IBM Plex Sans" pitchFamily="34" charset="-120"/>
              </a:rPr>
              <a:t>With approval authority over the composition rule, access envelopes, and phase gates.</a:t>
            </a:r>
            <a:endParaRPr lang="en-US" sz="1400" dirty="0"/>
          </a:p>
        </p:txBody>
      </p:sp>
    </p:spTree>
  </p:cSld>
  <p:clrMapOvr>
    <a:masterClrMapping/>
  </p:clrMapOvr>
</p:sld>
</file>

<file path=ppt/theme/theme1.xml><?xml version="1.0" encoding="utf-8"?>
<a:theme xmlns:a="http://schemas.openxmlformats.org/drawingml/2006/main" name="Layered Authorization: Enterprise Floor, Mission Edge">
  <a:themeElements>
    <a:clrScheme name="Layered Authorization: Enterprise Floor, Mission Edge">
      <a:dk1>
        <a:srgbClr val="14202E"/>
      </a:dk1>
      <a:lt1>
        <a:srgbClr val="F7F6F2"/>
      </a:lt1>
      <a:dk2>
        <a:srgbClr val="4D565F"/>
      </a:dk2>
      <a:lt2>
        <a:srgbClr val="E0E1DE"/>
      </a:lt2>
      <a:accent1>
        <a:srgbClr val="185FA5"/>
      </a:accent1>
      <a:accent2>
        <a:srgbClr val="085041"/>
      </a:accent2>
      <a:accent3>
        <a:srgbClr val="0C447C"/>
      </a:accent3>
      <a:accent4>
        <a:srgbClr val="0F6E56"/>
      </a:accent4>
      <a:accent5>
        <a:srgbClr val="534AB7"/>
      </a:accent5>
      <a:accent6>
        <a:srgbClr val="5B9BE0"/>
      </a:accent6>
      <a:hlink>
        <a:srgbClr val="0563C1"/>
      </a:hlink>
      <a:folHlink>
        <a:srgbClr val="954F72"/>
      </a:folHlink>
    </a:clrScheme>
    <a:fontScheme name="Layered Authorization: Enterprise Floor, Mission Edg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Layered Authorization: Enterprise Floor, Mission Edge</dc:title>
  <dc:subject/>
  <dc:creator/>
  <cp:lastModifiedBy/>
  <cp:revision>1</cp:revision>
  <dcterms:created xsi:type="dcterms:W3CDTF">2026-10-06T08:17:05Z</dcterms:created>
  <dcterms:modified xsi:type="dcterms:W3CDTF">2026-10-06T08:17:05Z</dcterms:modified>
</cp:coreProperties>
</file>